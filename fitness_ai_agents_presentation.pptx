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r>
              <a:t>Welcome — this is Fitness AI Agents, a multi-source health-data platform I built for Hack America.</a:t>
            </a:r>
          </a:p>
          <a:p/>
          <a:p>
            <a:r>
              <a:t>The core premise: most people own at least one fitness device or app, but the insights trapped inside are hard to access, harder to interpret, and completely siloed. This project unlocks all of that with AI.</a:t>
            </a:r>
          </a:p>
          <a:p/>
          <a:p>
            <a:r>
              <a:t>I'll walk you through the problem, the solution, how it works under the hood, the impact, and a quick look at the live demo. Total run time is about seven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r>
              <a:t>The average person owns 1-2 fitness devices and uses 2-3 fitness apps. But here's the problem:</a:t>
            </a:r>
          </a:p>
          <a:p/>
          <a:p>
            <a:r>
              <a:t>Each of those platforms holds a slice of your health story — your Apple Watch has sleep, Strava has runs, Garmin has heart rate — but none of them talk to each other.</a:t>
            </a:r>
          </a:p>
          <a:p/>
          <a:p>
            <a:r>
              <a:t>And even when you can see your data, the numbers are meaningless without context. What does a resting HR of 58 bpm mean for YOUR training right now? Is a 7-hour sleep score good or bad given yesterday's workout?</a:t>
            </a:r>
          </a:p>
          <a:p/>
          <a:p>
            <a:r>
              <a:t>Hiring a sports scientist or personal coach to answer those questions costs hundreds of dollars a month. That puts evidence-based training advice out of reach for most people.</a:t>
            </a:r>
          </a:p>
          <a:p/>
          <a:p>
            <a:r>
              <a:t>The result: billions of data points collected, and almost none of it acted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r>
              <a:t>The solution is Fitness AI Agents — a three-step experience:</a:t>
            </a:r>
          </a:p>
          <a:p/>
          <a:p>
            <a:r>
              <a:t>First, CONNECT. You bring your data from any source. Strava and Fitbit sync via OAuth. Apple Health, Garmin, COROS, Wahoo, Suunto, Polar — any of those — just drop in a .fit, .tcx, or .gpx file. No special hardware required.</a:t>
            </a:r>
          </a:p>
          <a:p/>
          <a:p>
            <a:r>
              <a:t>Second, ANALYZE. An 8-agent AI pipeline processes that data like a team of domain experts: a data cleaner, a prompt engineer, a data analyst, a sports scientist, a trend analyzer, a formatter, and a QA critic — all working in sequence to produce verified, evidence-based insights.</a:t>
            </a:r>
          </a:p>
          <a:p/>
          <a:p>
            <a:r>
              <a:t>Third, ACT. A personalized weekly coach plan, a daily Readiness score that rivals what Oura and Whoop charge subscriptions for, proactive health alerts, and a conversational chat grounded in YOUR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seconds]</a:t>
            </a:r>
          </a:p>
          <a:p>
            <a:r>
              <a:t>Let me walk through the five things this platform can do.</a:t>
            </a:r>
          </a:p>
          <a:p/>
          <a:p>
            <a:r>
              <a:t>AI Analysis — the signature feature. An 8-agent CrewAI pipeline reads your raw data and produces structured outputs: metrics cards, charts, trend reports, training-load comparisons. Every run is scored by a QA critic agent for physiological accuracy.</a:t>
            </a:r>
          </a:p>
          <a:p/>
          <a:p>
            <a:r>
              <a:t>AI Coach — you set a goal, the platform generates a weekly training plan, then tracks your actual workouts against it. If you fall behind or overtrain, it adapts.</a:t>
            </a:r>
          </a:p>
          <a:p/>
          <a:p>
            <a:r>
              <a:t>Readiness Score — this is the Whoop or Oura 'Recovery' feature, built from scratch using sports-science formulas: heart-rate variability trend, resting HR, sleep quality, and acute-to-chronic training load ratio. Completely free, from any data source.</a:t>
            </a:r>
          </a:p>
          <a:p/>
          <a:p>
            <a:r>
              <a:t>Health Watchdog — deterministic alerts. No AI calls needed. If your resting HR is trending up over 5 days, or HRV is dropping, you get flagged — before you notice it yourself.</a:t>
            </a:r>
          </a:p>
          <a:p/>
          <a:p>
            <a:r>
              <a:t>Chat — ask 'how did I sleep this month?' or 'should I run tomorrow?' in plain language. The LLM is grounded in a server-built summary of your actual data so answers aren't hallucinated.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seconds]</a:t>
            </a:r>
          </a:p>
          <a:p>
            <a:r>
              <a:t>Under the hood, the AI pipeline runs eight agents in sequence, each passing its output as context to the next.</a:t>
            </a:r>
          </a:p>
          <a:p/>
          <a:p>
            <a:r>
              <a:t>Agent 1 is the Context Agent — it reads your question and maps it to the right metrics and data sources. Agent 2 is the Data Cleaner — it flags bad values like HR readings outside 30–250 bpm. Agent 3 writes the analysis plan. Agent 4, the Data Analyst, actually runs the numbers. Agent 5 is a Sports Scientist that interprets findings through exercise physiology. Agent 6 detects time-series patterns. Agent 7 formats everything into structured JSON. Agent 8 is a QA Critic that scores the output for accuracy.</a:t>
            </a:r>
          </a:p>
          <a:p/>
          <a:p>
            <a:r>
              <a:t>The tech stack: React 19 frontend on Vercel. FastAPI backend also on Vercel — always on, always free. Supabase Postgres with row-level security — the anon key returns zero rows. The heavy CrewAI pipeline runs in a dedicated HuggingFace Space. The lighter features — Coach, Chat, Readiness — use single LLM calls through a multi-model failover router I wrote, with a 200-calls-per-user-per-day guardrail.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r>
              <a:t>Who does this help and how much?</a:t>
            </a:r>
          </a:p>
          <a:p/>
          <a:p>
            <a:r>
              <a:t>Over a billion people own a wearable today — smartwatches, fitness bands, phones with step counters. Nearly all of that data goes under-analyzed. This platform is designed to serve anyone in that group.</a:t>
            </a:r>
          </a:p>
          <a:p/>
          <a:p>
            <a:r>
              <a:t>A personal trainer costs $150 to $300 a month. Oura and Whoop charge $15–18 a month just for a recovery score. This platform delivers both — and more — at zero cost.</a:t>
            </a:r>
          </a:p>
          <a:p/>
          <a:p>
            <a:r>
              <a:t>At launch it supports 13+ import sources. You don't need to buy anything new. If you have an iPhone, a Garmin, or a Fitbit collecting dust, you can get started today.</a:t>
            </a:r>
          </a:p>
          <a:p/>
          <a:p>
            <a:r>
              <a:t>And critically — this isn't a mockup or a demo. It's live at fitness-ai-agents.vercel.app right now. You can sign up, load 31 days of sample data, and see the full AI analysis in under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a:t>
            </a:r>
          </a:p>
          <a:p>
            <a:r>
              <a:t>Everything I just described is live.</a:t>
            </a:r>
          </a:p>
          <a:p/>
          <a:p>
            <a:r>
              <a:t>You can open fitness-ai-agents.vercel.app right now. Click /demo — no account needed — and you'll see a fully populated dashboard with charts, heatmaps, training metrics, and AI analysis results for a synthetic 31-day dataset.</a:t>
            </a:r>
          </a:p>
          <a:p/>
          <a:p>
            <a:r>
              <a:t>If you want to run the agent pipeline yourself, the HuggingFace Gradio demo is linked on the landing page — drop in any CSV with columns like heart_rate, steps, sleep_hours, and hrv, and watch all 8 agents run in sequence.</a:t>
            </a:r>
          </a:p>
          <a:p/>
          <a:p>
            <a:r>
              <a:t>The backend API is at backend-seven-topaz-23.vercel.app — always-on on Vercel's free tier. You can hit /health right now and get a 200.</a:t>
            </a:r>
          </a:p>
          <a:p/>
          <a:p>
            <a:r>
              <a:t>On the mobile side: the Android native tracker is scaffolded in Kotlin — it runs a foreground service for background steps and GPS, pairs to the user's account via a device token that's stored as a SHA-256 hash, so a database leak can't forge uploads. The PWA is installable today on any phone; the signed APK ships post-hackathon.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r>
              <a:t>To wrap up:</a:t>
            </a:r>
          </a:p>
          <a:p/>
          <a:p>
            <a:r>
              <a:t>Fitness AI Agents takes the data you're already generating, connects it from any source without new hardware, and puts a team of AI sports scientists in your pocket — for free.</a:t>
            </a:r>
          </a:p>
          <a:p/>
          <a:p>
            <a:r>
              <a:t>It's live today. You can try it right now. The full source is on GitHub.</a:t>
            </a:r>
          </a:p>
          <a:p/>
          <a:p>
            <a:r>
              <a:t>I'm happy to take any questions — about the architecture, the agent pipeline, the security model, or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0" y="914400"/>
            <a:ext cx="4114800" cy="502920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7315200" cy="1188720"/>
          </a:xfrm>
          <a:prstGeom prst="rect">
            <a:avLst/>
          </a:prstGeom>
          <a:noFill/>
        </p:spPr>
        <p:txBody>
          <a:bodyPr wrap="square">
            <a:spAutoFit/>
          </a:bodyPr>
          <a:lstStyle/>
          <a:p>
            <a:pPr algn="l"/>
            <a:r>
              <a:rPr sz="5600" b="1" i="0">
                <a:solidFill>
                  <a:srgbClr val="FFFFFF"/>
                </a:solidFill>
                <a:latin typeface="Calibri"/>
              </a:rPr>
              <a:t>FITNESS AI AGENTS</a:t>
            </a:r>
          </a:p>
        </p:txBody>
      </p:sp>
      <p:sp>
        <p:nvSpPr>
          <p:cNvPr id="5" name="Rectangle 4"/>
          <p:cNvSpPr/>
          <p:nvPr/>
        </p:nvSpPr>
        <p:spPr>
          <a:xfrm>
            <a:off x="457200" y="2788920"/>
            <a:ext cx="228600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71800"/>
            <a:ext cx="7315200" cy="640080"/>
          </a:xfrm>
          <a:prstGeom prst="rect">
            <a:avLst/>
          </a:prstGeom>
          <a:noFill/>
        </p:spPr>
        <p:txBody>
          <a:bodyPr wrap="square">
            <a:spAutoFit/>
          </a:bodyPr>
          <a:lstStyle/>
          <a:p>
            <a:pPr algn="l"/>
            <a:r>
              <a:rPr sz="2200" b="0" i="0">
                <a:solidFill>
                  <a:srgbClr val="48CAE4"/>
                </a:solidFill>
                <a:latin typeface="Calibri"/>
              </a:rPr>
              <a:t>Your health data. Any device. AI-powered clarity.</a:t>
            </a:r>
          </a:p>
        </p:txBody>
      </p:sp>
      <p:sp>
        <p:nvSpPr>
          <p:cNvPr id="7" name="TextBox 6"/>
          <p:cNvSpPr txBox="1"/>
          <p:nvPr/>
        </p:nvSpPr>
        <p:spPr>
          <a:xfrm>
            <a:off x="457200" y="5943600"/>
            <a:ext cx="5486400" cy="457200"/>
          </a:xfrm>
          <a:prstGeom prst="rect">
            <a:avLst/>
          </a:prstGeom>
          <a:noFill/>
        </p:spPr>
        <p:txBody>
          <a:bodyPr wrap="square">
            <a:spAutoFit/>
          </a:bodyPr>
          <a:lstStyle/>
          <a:p>
            <a:pPr algn="l"/>
            <a:r>
              <a:rPr sz="1600" b="0" i="0">
                <a:solidFill>
                  <a:srgbClr val="6088A8"/>
                </a:solidFill>
                <a:latin typeface="Calibri"/>
              </a:rPr>
              <a:t>2026 Hack America Hackathon</a:t>
            </a:r>
          </a:p>
        </p:txBody>
      </p:sp>
      <p:sp>
        <p:nvSpPr>
          <p:cNvPr id="8" name="Rectangle 7"/>
          <p:cNvSpPr/>
          <p:nvPr/>
        </p:nvSpPr>
        <p:spPr>
          <a:xfrm>
            <a:off x="8229600" y="1737360"/>
            <a:ext cx="3017520"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920240"/>
            <a:ext cx="365760" cy="548640"/>
          </a:xfrm>
          <a:prstGeom prst="rect">
            <a:avLst/>
          </a:prstGeom>
          <a:noFill/>
        </p:spPr>
        <p:txBody>
          <a:bodyPr wrap="square">
            <a:spAutoFit/>
          </a:bodyPr>
          <a:lstStyle/>
          <a:p>
            <a:pPr algn="l"/>
            <a:r>
              <a:rPr sz="2200" b="0" i="0">
                <a:solidFill>
                  <a:srgbClr val="00B4D8"/>
                </a:solidFill>
                <a:latin typeface="Calibri"/>
              </a:rPr>
              <a:t>●</a:t>
            </a:r>
          </a:p>
        </p:txBody>
      </p:sp>
      <p:sp>
        <p:nvSpPr>
          <p:cNvPr id="10" name="TextBox 9"/>
          <p:cNvSpPr txBox="1"/>
          <p:nvPr/>
        </p:nvSpPr>
        <p:spPr>
          <a:xfrm>
            <a:off x="8732520" y="1938528"/>
            <a:ext cx="2377440" cy="502920"/>
          </a:xfrm>
          <a:prstGeom prst="rect">
            <a:avLst/>
          </a:prstGeom>
          <a:noFill/>
        </p:spPr>
        <p:txBody>
          <a:bodyPr wrap="square">
            <a:spAutoFit/>
          </a:bodyPr>
          <a:lstStyle/>
          <a:p>
            <a:pPr algn="l"/>
            <a:r>
              <a:rPr sz="1800" b="1" i="0">
                <a:solidFill>
                  <a:srgbClr val="FFFFFF"/>
                </a:solidFill>
                <a:latin typeface="Calibri"/>
              </a:rPr>
              <a:t>8-Agent AI Pipeline</a:t>
            </a:r>
          </a:p>
        </p:txBody>
      </p:sp>
      <p:sp>
        <p:nvSpPr>
          <p:cNvPr id="11" name="Rectangle 10"/>
          <p:cNvSpPr/>
          <p:nvPr/>
        </p:nvSpPr>
        <p:spPr>
          <a:xfrm>
            <a:off x="8229600" y="3108960"/>
            <a:ext cx="3017520"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3291840"/>
            <a:ext cx="365760" cy="548640"/>
          </a:xfrm>
          <a:prstGeom prst="rect">
            <a:avLst/>
          </a:prstGeom>
          <a:noFill/>
        </p:spPr>
        <p:txBody>
          <a:bodyPr wrap="square">
            <a:spAutoFit/>
          </a:bodyPr>
          <a:lstStyle/>
          <a:p>
            <a:pPr algn="l"/>
            <a:r>
              <a:rPr sz="2200" b="0" i="0">
                <a:solidFill>
                  <a:srgbClr val="00B4D8"/>
                </a:solidFill>
                <a:latin typeface="Calibri"/>
              </a:rPr>
              <a:t>●</a:t>
            </a:r>
          </a:p>
        </p:txBody>
      </p:sp>
      <p:sp>
        <p:nvSpPr>
          <p:cNvPr id="13" name="TextBox 12"/>
          <p:cNvSpPr txBox="1"/>
          <p:nvPr/>
        </p:nvSpPr>
        <p:spPr>
          <a:xfrm>
            <a:off x="8732520" y="3310128"/>
            <a:ext cx="2377440" cy="502920"/>
          </a:xfrm>
          <a:prstGeom prst="rect">
            <a:avLst/>
          </a:prstGeom>
          <a:noFill/>
        </p:spPr>
        <p:txBody>
          <a:bodyPr wrap="square">
            <a:spAutoFit/>
          </a:bodyPr>
          <a:lstStyle/>
          <a:p>
            <a:pPr algn="l"/>
            <a:r>
              <a:rPr sz="1800" b="1" i="0">
                <a:solidFill>
                  <a:srgbClr val="FFFFFF"/>
                </a:solidFill>
                <a:latin typeface="Calibri"/>
              </a:rPr>
              <a:t>13+ Data Sources</a:t>
            </a:r>
          </a:p>
        </p:txBody>
      </p:sp>
      <p:sp>
        <p:nvSpPr>
          <p:cNvPr id="14" name="Rectangle 13"/>
          <p:cNvSpPr/>
          <p:nvPr/>
        </p:nvSpPr>
        <p:spPr>
          <a:xfrm>
            <a:off x="8229600" y="4480560"/>
            <a:ext cx="3017520"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4663440"/>
            <a:ext cx="365760" cy="548640"/>
          </a:xfrm>
          <a:prstGeom prst="rect">
            <a:avLst/>
          </a:prstGeom>
          <a:noFill/>
        </p:spPr>
        <p:txBody>
          <a:bodyPr wrap="square">
            <a:spAutoFit/>
          </a:bodyPr>
          <a:lstStyle/>
          <a:p>
            <a:pPr algn="l"/>
            <a:r>
              <a:rPr sz="2200" b="0" i="0">
                <a:solidFill>
                  <a:srgbClr val="00B4D8"/>
                </a:solidFill>
                <a:latin typeface="Calibri"/>
              </a:rPr>
              <a:t>●</a:t>
            </a:r>
          </a:p>
        </p:txBody>
      </p:sp>
      <p:sp>
        <p:nvSpPr>
          <p:cNvPr id="16" name="TextBox 15"/>
          <p:cNvSpPr txBox="1"/>
          <p:nvPr/>
        </p:nvSpPr>
        <p:spPr>
          <a:xfrm>
            <a:off x="8732520" y="4681728"/>
            <a:ext cx="2377440" cy="502920"/>
          </a:xfrm>
          <a:prstGeom prst="rect">
            <a:avLst/>
          </a:prstGeom>
          <a:noFill/>
        </p:spPr>
        <p:txBody>
          <a:bodyPr wrap="square">
            <a:spAutoFit/>
          </a:bodyPr>
          <a:lstStyle/>
          <a:p>
            <a:pPr algn="l"/>
            <a:r>
              <a:rPr sz="1800" b="1" i="0">
                <a:solidFill>
                  <a:srgbClr val="FFFFFF"/>
                </a:solidFill>
                <a:latin typeface="Calibri"/>
              </a:rPr>
              <a:t>Live &amp; Deployed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9144000" cy="548640"/>
          </a:xfrm>
          <a:prstGeom prst="rect">
            <a:avLst/>
          </a:prstGeom>
          <a:noFill/>
        </p:spPr>
        <p:txBody>
          <a:bodyPr wrap="square">
            <a:spAutoFit/>
          </a:bodyPr>
          <a:lstStyle/>
          <a:p>
            <a:pPr algn="l"/>
            <a:r>
              <a:rPr sz="1300" b="1" i="0">
                <a:solidFill>
                  <a:srgbClr val="00B4D8"/>
                </a:solidFill>
                <a:latin typeface="Calibri"/>
              </a:rPr>
              <a:t>THE PROBLEM</a:t>
            </a:r>
          </a:p>
        </p:txBody>
      </p:sp>
      <p:sp>
        <p:nvSpPr>
          <p:cNvPr id="4" name="TextBox 3"/>
          <p:cNvSpPr txBox="1"/>
          <p:nvPr/>
        </p:nvSpPr>
        <p:spPr>
          <a:xfrm>
            <a:off x="457200" y="914400"/>
            <a:ext cx="8229600" cy="1463040"/>
          </a:xfrm>
          <a:prstGeom prst="rect">
            <a:avLst/>
          </a:prstGeom>
          <a:noFill/>
        </p:spPr>
        <p:txBody>
          <a:bodyPr wrap="square">
            <a:spAutoFit/>
          </a:bodyPr>
          <a:lstStyle/>
          <a:p>
            <a:pPr algn="l"/>
            <a:r>
              <a:rPr sz="4200" b="1" i="0">
                <a:solidFill>
                  <a:srgbClr val="FFFFFF"/>
                </a:solidFill>
                <a:latin typeface="Calibri"/>
              </a:rPr>
              <a:t>Fitness data is everywhere.
Insights are nowhere.</a:t>
            </a:r>
          </a:p>
        </p:txBody>
      </p:sp>
      <p:sp>
        <p:nvSpPr>
          <p:cNvPr id="5" name="Rectangle 4"/>
          <p:cNvSpPr/>
          <p:nvPr/>
        </p:nvSpPr>
        <p:spPr>
          <a:xfrm>
            <a:off x="457200" y="2514600"/>
            <a:ext cx="164592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2743200"/>
            <a:ext cx="10972800" cy="713232"/>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07208"/>
            <a:ext cx="10515600" cy="566928"/>
          </a:xfrm>
          <a:prstGeom prst="rect">
            <a:avLst/>
          </a:prstGeom>
          <a:noFill/>
        </p:spPr>
        <p:txBody>
          <a:bodyPr wrap="square">
            <a:spAutoFit/>
          </a:bodyPr>
          <a:lstStyle/>
          <a:p>
            <a:pPr algn="l"/>
            <a:r>
              <a:rPr sz="1900" b="0" i="0">
                <a:solidFill>
                  <a:srgbClr val="B8D4E8"/>
                </a:solidFill>
                <a:latin typeface="Calibri"/>
              </a:rPr>
              <a:t>▸  Wearables &amp; apps keep data locked in their own silos</a:t>
            </a:r>
          </a:p>
        </p:txBody>
      </p:sp>
      <p:sp>
        <p:nvSpPr>
          <p:cNvPr id="8" name="Rectangle 7"/>
          <p:cNvSpPr/>
          <p:nvPr/>
        </p:nvSpPr>
        <p:spPr>
          <a:xfrm>
            <a:off x="457200" y="3611880"/>
            <a:ext cx="10972800" cy="713232"/>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675887"/>
            <a:ext cx="10515600" cy="566928"/>
          </a:xfrm>
          <a:prstGeom prst="rect">
            <a:avLst/>
          </a:prstGeom>
          <a:noFill/>
        </p:spPr>
        <p:txBody>
          <a:bodyPr wrap="square">
            <a:spAutoFit/>
          </a:bodyPr>
          <a:lstStyle/>
          <a:p>
            <a:pPr algn="l"/>
            <a:r>
              <a:rPr sz="1900" b="0" i="0">
                <a:solidFill>
                  <a:srgbClr val="B8D4E8"/>
                </a:solidFill>
                <a:latin typeface="Calibri"/>
              </a:rPr>
              <a:t>▸  Raw numbers mean nothing without context or science</a:t>
            </a:r>
          </a:p>
        </p:txBody>
      </p:sp>
      <p:sp>
        <p:nvSpPr>
          <p:cNvPr id="10" name="Rectangle 9"/>
          <p:cNvSpPr/>
          <p:nvPr/>
        </p:nvSpPr>
        <p:spPr>
          <a:xfrm>
            <a:off x="457200" y="4480560"/>
            <a:ext cx="10972800" cy="713232"/>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544568"/>
            <a:ext cx="10515600" cy="566928"/>
          </a:xfrm>
          <a:prstGeom prst="rect">
            <a:avLst/>
          </a:prstGeom>
          <a:noFill/>
        </p:spPr>
        <p:txBody>
          <a:bodyPr wrap="square">
            <a:spAutoFit/>
          </a:bodyPr>
          <a:lstStyle/>
          <a:p>
            <a:pPr algn="l"/>
            <a:r>
              <a:rPr sz="1900" b="0" i="0">
                <a:solidFill>
                  <a:srgbClr val="B8D4E8"/>
                </a:solidFill>
                <a:latin typeface="Calibri"/>
              </a:rPr>
              <a:t>▸  Coaching insights require a personal trainer — expensive, inaccessible</a:t>
            </a:r>
          </a:p>
        </p:txBody>
      </p:sp>
      <p:sp>
        <p:nvSpPr>
          <p:cNvPr id="12" name="Rectangle 11"/>
          <p:cNvSpPr/>
          <p:nvPr/>
        </p:nvSpPr>
        <p:spPr>
          <a:xfrm>
            <a:off x="457200" y="5349240"/>
            <a:ext cx="10972800" cy="713232"/>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413248"/>
            <a:ext cx="10515600" cy="566928"/>
          </a:xfrm>
          <a:prstGeom prst="rect">
            <a:avLst/>
          </a:prstGeom>
          <a:noFill/>
        </p:spPr>
        <p:txBody>
          <a:bodyPr wrap="square">
            <a:spAutoFit/>
          </a:bodyPr>
          <a:lstStyle/>
          <a:p>
            <a:pPr algn="l"/>
            <a:r>
              <a:rPr sz="1900" b="0" i="0">
                <a:solidFill>
                  <a:srgbClr val="B8D4E8"/>
                </a:solidFill>
                <a:latin typeface="Calibri"/>
              </a:rPr>
              <a:t>▸  Most people never act on their health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9144000" cy="548640"/>
          </a:xfrm>
          <a:prstGeom prst="rect">
            <a:avLst/>
          </a:prstGeom>
          <a:noFill/>
        </p:spPr>
        <p:txBody>
          <a:bodyPr wrap="square">
            <a:spAutoFit/>
          </a:bodyPr>
          <a:lstStyle/>
          <a:p>
            <a:pPr algn="l"/>
            <a:r>
              <a:rPr sz="1300" b="1" i="0">
                <a:solidFill>
                  <a:srgbClr val="00B4D8"/>
                </a:solidFill>
                <a:latin typeface="Calibri"/>
              </a:rPr>
              <a:t>THE SOLUTION</a:t>
            </a:r>
          </a:p>
        </p:txBody>
      </p:sp>
      <p:sp>
        <p:nvSpPr>
          <p:cNvPr id="4" name="TextBox 3"/>
          <p:cNvSpPr txBox="1"/>
          <p:nvPr/>
        </p:nvSpPr>
        <p:spPr>
          <a:xfrm>
            <a:off x="457200" y="914400"/>
            <a:ext cx="9144000" cy="1463040"/>
          </a:xfrm>
          <a:prstGeom prst="rect">
            <a:avLst/>
          </a:prstGeom>
          <a:noFill/>
        </p:spPr>
        <p:txBody>
          <a:bodyPr wrap="square">
            <a:spAutoFit/>
          </a:bodyPr>
          <a:lstStyle/>
          <a:p>
            <a:pPr algn="l"/>
            <a:r>
              <a:rPr sz="4000" b="1" i="0">
                <a:solidFill>
                  <a:srgbClr val="FFFFFF"/>
                </a:solidFill>
                <a:latin typeface="Calibri"/>
              </a:rPr>
              <a:t>One platform. Any source.
AI that speaks sports science.</a:t>
            </a:r>
          </a:p>
        </p:txBody>
      </p:sp>
      <p:sp>
        <p:nvSpPr>
          <p:cNvPr id="5" name="Rectangle 4"/>
          <p:cNvSpPr/>
          <p:nvPr/>
        </p:nvSpPr>
        <p:spPr>
          <a:xfrm>
            <a:off x="457200" y="2514600"/>
            <a:ext cx="201168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2834640"/>
            <a:ext cx="3566160" cy="3291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834640"/>
            <a:ext cx="3566160"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71800"/>
            <a:ext cx="3200400" cy="502920"/>
          </a:xfrm>
          <a:prstGeom prst="rect">
            <a:avLst/>
          </a:prstGeom>
          <a:noFill/>
        </p:spPr>
        <p:txBody>
          <a:bodyPr wrap="square">
            <a:spAutoFit/>
          </a:bodyPr>
          <a:lstStyle/>
          <a:p>
            <a:pPr algn="l"/>
            <a:r>
              <a:rPr sz="2000" b="1" i="0">
                <a:solidFill>
                  <a:srgbClr val="00B4D8"/>
                </a:solidFill>
                <a:latin typeface="Calibri"/>
              </a:rPr>
              <a:t>CONNECT</a:t>
            </a:r>
          </a:p>
        </p:txBody>
      </p:sp>
      <p:sp>
        <p:nvSpPr>
          <p:cNvPr id="9" name="TextBox 8"/>
          <p:cNvSpPr txBox="1"/>
          <p:nvPr/>
        </p:nvSpPr>
        <p:spPr>
          <a:xfrm>
            <a:off x="640080" y="3566160"/>
            <a:ext cx="3200400" cy="2286000"/>
          </a:xfrm>
          <a:prstGeom prst="rect">
            <a:avLst/>
          </a:prstGeom>
          <a:noFill/>
        </p:spPr>
        <p:txBody>
          <a:bodyPr wrap="square">
            <a:spAutoFit/>
          </a:bodyPr>
          <a:lstStyle/>
          <a:p>
            <a:pPr algn="l"/>
            <a:r>
              <a:rPr sz="1700" b="0" i="0">
                <a:solidFill>
                  <a:srgbClr val="B8D4E8"/>
                </a:solidFill>
                <a:latin typeface="Calibri"/>
              </a:rPr>
              <a:t>OAuth sync or file drop
Strava · Fitbit · Apple Health
Garmin · COROS · Wahoo · +8 more</a:t>
            </a:r>
          </a:p>
        </p:txBody>
      </p:sp>
      <p:sp>
        <p:nvSpPr>
          <p:cNvPr id="10" name="Rectangle 9"/>
          <p:cNvSpPr/>
          <p:nvPr/>
        </p:nvSpPr>
        <p:spPr>
          <a:xfrm>
            <a:off x="4361688" y="2834640"/>
            <a:ext cx="3566160" cy="3291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834640"/>
            <a:ext cx="3566160"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2971800"/>
            <a:ext cx="3200400" cy="502920"/>
          </a:xfrm>
          <a:prstGeom prst="rect">
            <a:avLst/>
          </a:prstGeom>
          <a:noFill/>
        </p:spPr>
        <p:txBody>
          <a:bodyPr wrap="square">
            <a:spAutoFit/>
          </a:bodyPr>
          <a:lstStyle/>
          <a:p>
            <a:pPr algn="l"/>
            <a:r>
              <a:rPr sz="2000" b="1" i="0">
                <a:solidFill>
                  <a:srgbClr val="00B4D8"/>
                </a:solidFill>
                <a:latin typeface="Calibri"/>
              </a:rPr>
              <a:t>ANALYZE</a:t>
            </a:r>
          </a:p>
        </p:txBody>
      </p:sp>
      <p:sp>
        <p:nvSpPr>
          <p:cNvPr id="13" name="TextBox 12"/>
          <p:cNvSpPr txBox="1"/>
          <p:nvPr/>
        </p:nvSpPr>
        <p:spPr>
          <a:xfrm>
            <a:off x="4544568" y="3566160"/>
            <a:ext cx="3200400" cy="2286000"/>
          </a:xfrm>
          <a:prstGeom prst="rect">
            <a:avLst/>
          </a:prstGeom>
          <a:noFill/>
        </p:spPr>
        <p:txBody>
          <a:bodyPr wrap="square">
            <a:spAutoFit/>
          </a:bodyPr>
          <a:lstStyle/>
          <a:p>
            <a:pPr algn="l"/>
            <a:r>
              <a:rPr sz="1700" b="0" i="0">
                <a:solidFill>
                  <a:srgbClr val="B8D4E8"/>
                </a:solidFill>
                <a:latin typeface="Calibri"/>
              </a:rPr>
              <a:t>8 AI agents process your data
Sports scientist + trend analysis
QA-scored output</a:t>
            </a:r>
          </a:p>
        </p:txBody>
      </p:sp>
      <p:sp>
        <p:nvSpPr>
          <p:cNvPr id="14" name="Rectangle 13"/>
          <p:cNvSpPr/>
          <p:nvPr/>
        </p:nvSpPr>
        <p:spPr>
          <a:xfrm>
            <a:off x="8266175" y="2834640"/>
            <a:ext cx="3566160" cy="3291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66175" y="2834640"/>
            <a:ext cx="3566160"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9055" y="2971800"/>
            <a:ext cx="3200400" cy="502920"/>
          </a:xfrm>
          <a:prstGeom prst="rect">
            <a:avLst/>
          </a:prstGeom>
          <a:noFill/>
        </p:spPr>
        <p:txBody>
          <a:bodyPr wrap="square">
            <a:spAutoFit/>
          </a:bodyPr>
          <a:lstStyle/>
          <a:p>
            <a:pPr algn="l"/>
            <a:r>
              <a:rPr sz="2000" b="1" i="0">
                <a:solidFill>
                  <a:srgbClr val="00B4D8"/>
                </a:solidFill>
                <a:latin typeface="Calibri"/>
              </a:rPr>
              <a:t>ACT</a:t>
            </a:r>
          </a:p>
        </p:txBody>
      </p:sp>
      <p:sp>
        <p:nvSpPr>
          <p:cNvPr id="17" name="TextBox 16"/>
          <p:cNvSpPr txBox="1"/>
          <p:nvPr/>
        </p:nvSpPr>
        <p:spPr>
          <a:xfrm>
            <a:off x="8449055" y="3566160"/>
            <a:ext cx="3200400" cy="2286000"/>
          </a:xfrm>
          <a:prstGeom prst="rect">
            <a:avLst/>
          </a:prstGeom>
          <a:noFill/>
        </p:spPr>
        <p:txBody>
          <a:bodyPr wrap="square">
            <a:spAutoFit/>
          </a:bodyPr>
          <a:lstStyle/>
          <a:p>
            <a:pPr algn="l"/>
            <a:r>
              <a:rPr sz="1700" b="0" i="0">
                <a:solidFill>
                  <a:srgbClr val="B8D4E8"/>
                </a:solidFill>
                <a:latin typeface="Calibri"/>
              </a:rPr>
              <a:t>Weekly coach plan
Readiness score &amp; alerts
Chat with your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9144000" cy="548640"/>
          </a:xfrm>
          <a:prstGeom prst="rect">
            <a:avLst/>
          </a:prstGeom>
          <a:noFill/>
        </p:spPr>
        <p:txBody>
          <a:bodyPr wrap="square">
            <a:spAutoFit/>
          </a:bodyPr>
          <a:lstStyle/>
          <a:p>
            <a:pPr algn="l"/>
            <a:r>
              <a:rPr sz="1300" b="1" i="0">
                <a:solidFill>
                  <a:srgbClr val="00B4D8"/>
                </a:solidFill>
                <a:latin typeface="Calibri"/>
              </a:rPr>
              <a:t>CAPABILITIES</a:t>
            </a:r>
          </a:p>
        </p:txBody>
      </p:sp>
      <p:sp>
        <p:nvSpPr>
          <p:cNvPr id="4" name="TextBox 3"/>
          <p:cNvSpPr txBox="1"/>
          <p:nvPr/>
        </p:nvSpPr>
        <p:spPr>
          <a:xfrm>
            <a:off x="457200" y="868680"/>
            <a:ext cx="8229600" cy="685800"/>
          </a:xfrm>
          <a:prstGeom prst="rect">
            <a:avLst/>
          </a:prstGeom>
          <a:noFill/>
        </p:spPr>
        <p:txBody>
          <a:bodyPr wrap="square">
            <a:spAutoFit/>
          </a:bodyPr>
          <a:lstStyle/>
          <a:p>
            <a:pPr algn="l"/>
            <a:r>
              <a:rPr sz="3600" b="1" i="0">
                <a:solidFill>
                  <a:srgbClr val="FFFFFF"/>
                </a:solidFill>
                <a:latin typeface="Calibri"/>
              </a:rPr>
              <a:t>Five AI-powered features</a:t>
            </a:r>
          </a:p>
        </p:txBody>
      </p:sp>
      <p:sp>
        <p:nvSpPr>
          <p:cNvPr id="5" name="Rectangle 4"/>
          <p:cNvSpPr/>
          <p:nvPr/>
        </p:nvSpPr>
        <p:spPr>
          <a:xfrm>
            <a:off x="457200" y="1664208"/>
            <a:ext cx="137160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920240"/>
            <a:ext cx="10972800" cy="749808"/>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20240"/>
            <a:ext cx="73152" cy="7498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29968"/>
            <a:ext cx="2926080" cy="502920"/>
          </a:xfrm>
          <a:prstGeom prst="rect">
            <a:avLst/>
          </a:prstGeom>
          <a:noFill/>
        </p:spPr>
        <p:txBody>
          <a:bodyPr wrap="square">
            <a:spAutoFit/>
          </a:bodyPr>
          <a:lstStyle/>
          <a:p>
            <a:pPr algn="l"/>
            <a:r>
              <a:rPr sz="1800" b="1" i="0">
                <a:solidFill>
                  <a:srgbClr val="48CAE4"/>
                </a:solidFill>
                <a:latin typeface="Calibri"/>
              </a:rPr>
              <a:t>AI Analysis</a:t>
            </a:r>
          </a:p>
        </p:txBody>
      </p:sp>
      <p:sp>
        <p:nvSpPr>
          <p:cNvPr id="9" name="TextBox 8"/>
          <p:cNvSpPr txBox="1"/>
          <p:nvPr/>
        </p:nvSpPr>
        <p:spPr>
          <a:xfrm>
            <a:off x="3474720" y="2048256"/>
            <a:ext cx="7772400" cy="457200"/>
          </a:xfrm>
          <a:prstGeom prst="rect">
            <a:avLst/>
          </a:prstGeom>
          <a:noFill/>
        </p:spPr>
        <p:txBody>
          <a:bodyPr wrap="square">
            <a:spAutoFit/>
          </a:bodyPr>
          <a:lstStyle/>
          <a:p>
            <a:pPr algn="l"/>
            <a:r>
              <a:rPr sz="1700" b="0" i="0">
                <a:solidFill>
                  <a:srgbClr val="B8D4E8"/>
                </a:solidFill>
                <a:latin typeface="Calibri"/>
              </a:rPr>
              <a:t>8-agent CrewAI pipeline — metrics, charts, trend reports, QA score</a:t>
            </a:r>
          </a:p>
        </p:txBody>
      </p:sp>
      <p:sp>
        <p:nvSpPr>
          <p:cNvPr id="10" name="Rectangle 9"/>
          <p:cNvSpPr/>
          <p:nvPr/>
        </p:nvSpPr>
        <p:spPr>
          <a:xfrm>
            <a:off x="457200" y="2834640"/>
            <a:ext cx="10972800" cy="749808"/>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834640"/>
            <a:ext cx="73152" cy="7498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944368"/>
            <a:ext cx="2926080" cy="502920"/>
          </a:xfrm>
          <a:prstGeom prst="rect">
            <a:avLst/>
          </a:prstGeom>
          <a:noFill/>
        </p:spPr>
        <p:txBody>
          <a:bodyPr wrap="square">
            <a:spAutoFit/>
          </a:bodyPr>
          <a:lstStyle/>
          <a:p>
            <a:pPr algn="l"/>
            <a:r>
              <a:rPr sz="1800" b="1" i="0">
                <a:solidFill>
                  <a:srgbClr val="48CAE4"/>
                </a:solidFill>
                <a:latin typeface="Calibri"/>
              </a:rPr>
              <a:t>AI Coach</a:t>
            </a:r>
          </a:p>
        </p:txBody>
      </p:sp>
      <p:sp>
        <p:nvSpPr>
          <p:cNvPr id="13" name="TextBox 12"/>
          <p:cNvSpPr txBox="1"/>
          <p:nvPr/>
        </p:nvSpPr>
        <p:spPr>
          <a:xfrm>
            <a:off x="3474720" y="2962656"/>
            <a:ext cx="7772400" cy="457200"/>
          </a:xfrm>
          <a:prstGeom prst="rect">
            <a:avLst/>
          </a:prstGeom>
          <a:noFill/>
        </p:spPr>
        <p:txBody>
          <a:bodyPr wrap="square">
            <a:spAutoFit/>
          </a:bodyPr>
          <a:lstStyle/>
          <a:p>
            <a:pPr algn="l"/>
            <a:r>
              <a:rPr sz="1700" b="0" i="0">
                <a:solidFill>
                  <a:srgbClr val="B8D4E8"/>
                </a:solidFill>
                <a:latin typeface="Calibri"/>
              </a:rPr>
              <a:t>Goal → adaptive weekly plan that updates as your real workouts come in</a:t>
            </a:r>
          </a:p>
        </p:txBody>
      </p:sp>
      <p:sp>
        <p:nvSpPr>
          <p:cNvPr id="14" name="Rectangle 13"/>
          <p:cNvSpPr/>
          <p:nvPr/>
        </p:nvSpPr>
        <p:spPr>
          <a:xfrm>
            <a:off x="457200" y="3749039"/>
            <a:ext cx="10972800" cy="749808"/>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749039"/>
            <a:ext cx="73152" cy="7498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58768"/>
            <a:ext cx="2926080" cy="502920"/>
          </a:xfrm>
          <a:prstGeom prst="rect">
            <a:avLst/>
          </a:prstGeom>
          <a:noFill/>
        </p:spPr>
        <p:txBody>
          <a:bodyPr wrap="square">
            <a:spAutoFit/>
          </a:bodyPr>
          <a:lstStyle/>
          <a:p>
            <a:pPr algn="l"/>
            <a:r>
              <a:rPr sz="1800" b="1" i="0">
                <a:solidFill>
                  <a:srgbClr val="48CAE4"/>
                </a:solidFill>
                <a:latin typeface="Calibri"/>
              </a:rPr>
              <a:t>Readiness Score</a:t>
            </a:r>
          </a:p>
        </p:txBody>
      </p:sp>
      <p:sp>
        <p:nvSpPr>
          <p:cNvPr id="17" name="TextBox 16"/>
          <p:cNvSpPr txBox="1"/>
          <p:nvPr/>
        </p:nvSpPr>
        <p:spPr>
          <a:xfrm>
            <a:off x="3474720" y="3877055"/>
            <a:ext cx="7772400" cy="457200"/>
          </a:xfrm>
          <a:prstGeom prst="rect">
            <a:avLst/>
          </a:prstGeom>
          <a:noFill/>
        </p:spPr>
        <p:txBody>
          <a:bodyPr wrap="square">
            <a:spAutoFit/>
          </a:bodyPr>
          <a:lstStyle/>
          <a:p>
            <a:pPr algn="l"/>
            <a:r>
              <a:rPr sz="1700" b="0" i="0">
                <a:solidFill>
                  <a:srgbClr val="B8D4E8"/>
                </a:solidFill>
                <a:latin typeface="Calibri"/>
              </a:rPr>
              <a:t>HRV + resting HR + sleep + training load → daily recovery score</a:t>
            </a:r>
          </a:p>
        </p:txBody>
      </p:sp>
      <p:sp>
        <p:nvSpPr>
          <p:cNvPr id="18" name="Rectangle 17"/>
          <p:cNvSpPr/>
          <p:nvPr/>
        </p:nvSpPr>
        <p:spPr>
          <a:xfrm>
            <a:off x="457200" y="4663440"/>
            <a:ext cx="10972800" cy="749808"/>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663440"/>
            <a:ext cx="73152" cy="7498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773168"/>
            <a:ext cx="2926080" cy="502920"/>
          </a:xfrm>
          <a:prstGeom prst="rect">
            <a:avLst/>
          </a:prstGeom>
          <a:noFill/>
        </p:spPr>
        <p:txBody>
          <a:bodyPr wrap="square">
            <a:spAutoFit/>
          </a:bodyPr>
          <a:lstStyle/>
          <a:p>
            <a:pPr algn="l"/>
            <a:r>
              <a:rPr sz="1800" b="1" i="0">
                <a:solidFill>
                  <a:srgbClr val="48CAE4"/>
                </a:solidFill>
                <a:latin typeface="Calibri"/>
              </a:rPr>
              <a:t>Health Watchdog</a:t>
            </a:r>
          </a:p>
        </p:txBody>
      </p:sp>
      <p:sp>
        <p:nvSpPr>
          <p:cNvPr id="21" name="TextBox 20"/>
          <p:cNvSpPr txBox="1"/>
          <p:nvPr/>
        </p:nvSpPr>
        <p:spPr>
          <a:xfrm>
            <a:off x="3474720" y="4791455"/>
            <a:ext cx="7772400" cy="457200"/>
          </a:xfrm>
          <a:prstGeom prst="rect">
            <a:avLst/>
          </a:prstGeom>
          <a:noFill/>
        </p:spPr>
        <p:txBody>
          <a:bodyPr wrap="square">
            <a:spAutoFit/>
          </a:bodyPr>
          <a:lstStyle/>
          <a:p>
            <a:pPr algn="l"/>
            <a:r>
              <a:rPr sz="1700" b="0" i="0">
                <a:solidFill>
                  <a:srgbClr val="B8D4E8"/>
                </a:solidFill>
                <a:latin typeface="Calibri"/>
              </a:rPr>
              <a:t>Proactive alerts: rising HR, dropping HRV, overtraining spikes</a:t>
            </a:r>
          </a:p>
        </p:txBody>
      </p:sp>
      <p:sp>
        <p:nvSpPr>
          <p:cNvPr id="22" name="Rectangle 21"/>
          <p:cNvSpPr/>
          <p:nvPr/>
        </p:nvSpPr>
        <p:spPr>
          <a:xfrm>
            <a:off x="457200" y="5577840"/>
            <a:ext cx="10972800" cy="749808"/>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5577840"/>
            <a:ext cx="73152" cy="7498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687568"/>
            <a:ext cx="2926080" cy="502920"/>
          </a:xfrm>
          <a:prstGeom prst="rect">
            <a:avLst/>
          </a:prstGeom>
          <a:noFill/>
        </p:spPr>
        <p:txBody>
          <a:bodyPr wrap="square">
            <a:spAutoFit/>
          </a:bodyPr>
          <a:lstStyle/>
          <a:p>
            <a:pPr algn="l"/>
            <a:r>
              <a:rPr sz="1800" b="1" i="0">
                <a:solidFill>
                  <a:srgbClr val="48CAE4"/>
                </a:solidFill>
                <a:latin typeface="Calibri"/>
              </a:rPr>
              <a:t>Chat</a:t>
            </a:r>
          </a:p>
        </p:txBody>
      </p:sp>
      <p:sp>
        <p:nvSpPr>
          <p:cNvPr id="25" name="TextBox 24"/>
          <p:cNvSpPr txBox="1"/>
          <p:nvPr/>
        </p:nvSpPr>
        <p:spPr>
          <a:xfrm>
            <a:off x="3474720" y="5705855"/>
            <a:ext cx="7772400" cy="457200"/>
          </a:xfrm>
          <a:prstGeom prst="rect">
            <a:avLst/>
          </a:prstGeom>
          <a:noFill/>
        </p:spPr>
        <p:txBody>
          <a:bodyPr wrap="square">
            <a:spAutoFit/>
          </a:bodyPr>
          <a:lstStyle/>
          <a:p>
            <a:pPr algn="l"/>
            <a:r>
              <a:rPr sz="1700" b="0" i="0">
                <a:solidFill>
                  <a:srgbClr val="B8D4E8"/>
                </a:solidFill>
                <a:latin typeface="Calibri"/>
              </a:rPr>
              <a:t>Conversational — ask anything, answers grounded in your own history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9144000" cy="548640"/>
          </a:xfrm>
          <a:prstGeom prst="rect">
            <a:avLst/>
          </a:prstGeom>
          <a:noFill/>
        </p:spPr>
        <p:txBody>
          <a:bodyPr wrap="square">
            <a:spAutoFit/>
          </a:bodyPr>
          <a:lstStyle/>
          <a:p>
            <a:pPr algn="l"/>
            <a:r>
              <a:rPr sz="1300" b="1" i="0">
                <a:solidFill>
                  <a:srgbClr val="00B4D8"/>
                </a:solidFill>
                <a:latin typeface="Calibri"/>
              </a:rPr>
              <a:t>HOW IT WORKS</a:t>
            </a:r>
          </a:p>
        </p:txBody>
      </p:sp>
      <p:sp>
        <p:nvSpPr>
          <p:cNvPr id="4" name="TextBox 3"/>
          <p:cNvSpPr txBox="1"/>
          <p:nvPr/>
        </p:nvSpPr>
        <p:spPr>
          <a:xfrm>
            <a:off x="457200" y="868680"/>
            <a:ext cx="8229600" cy="685800"/>
          </a:xfrm>
          <a:prstGeom prst="rect">
            <a:avLst/>
          </a:prstGeom>
          <a:noFill/>
        </p:spPr>
        <p:txBody>
          <a:bodyPr wrap="square">
            <a:spAutoFit/>
          </a:bodyPr>
          <a:lstStyle/>
          <a:p>
            <a:pPr algn="l"/>
            <a:r>
              <a:rPr sz="3600" b="1" i="0">
                <a:solidFill>
                  <a:srgbClr val="FFFFFF"/>
                </a:solidFill>
                <a:latin typeface="Calibri"/>
              </a:rPr>
              <a:t>The 8-Agent Pipeline</a:t>
            </a:r>
          </a:p>
        </p:txBody>
      </p:sp>
      <p:sp>
        <p:nvSpPr>
          <p:cNvPr id="5" name="Rectangle 4"/>
          <p:cNvSpPr/>
          <p:nvPr/>
        </p:nvSpPr>
        <p:spPr>
          <a:xfrm>
            <a:off x="457200" y="1664208"/>
            <a:ext cx="118872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2057400"/>
            <a:ext cx="132588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2148840"/>
            <a:ext cx="274320" cy="347472"/>
          </a:xfrm>
          <a:prstGeom prst="rect">
            <a:avLst/>
          </a:prstGeom>
          <a:noFill/>
        </p:spPr>
        <p:txBody>
          <a:bodyPr wrap="square">
            <a:spAutoFit/>
          </a:bodyPr>
          <a:lstStyle/>
          <a:p>
            <a:pPr algn="l"/>
            <a:r>
              <a:rPr sz="1300" b="1" i="0">
                <a:solidFill>
                  <a:srgbClr val="00B4D8"/>
                </a:solidFill>
                <a:latin typeface="Calibri"/>
              </a:rPr>
              <a:t>1</a:t>
            </a:r>
          </a:p>
        </p:txBody>
      </p:sp>
      <p:sp>
        <p:nvSpPr>
          <p:cNvPr id="9" name="TextBox 8"/>
          <p:cNvSpPr txBox="1"/>
          <p:nvPr/>
        </p:nvSpPr>
        <p:spPr>
          <a:xfrm>
            <a:off x="457200" y="2441448"/>
            <a:ext cx="1188720" cy="594360"/>
          </a:xfrm>
          <a:prstGeom prst="rect">
            <a:avLst/>
          </a:prstGeom>
          <a:noFill/>
        </p:spPr>
        <p:txBody>
          <a:bodyPr wrap="square">
            <a:spAutoFit/>
          </a:bodyPr>
          <a:lstStyle/>
          <a:p>
            <a:pPr algn="l"/>
            <a:r>
              <a:rPr sz="1400" b="1" i="0">
                <a:solidFill>
                  <a:srgbClr val="FFFFFF"/>
                </a:solidFill>
                <a:latin typeface="Calibri"/>
              </a:rPr>
              <a:t>Context</a:t>
            </a:r>
          </a:p>
        </p:txBody>
      </p:sp>
      <p:sp>
        <p:nvSpPr>
          <p:cNvPr id="10" name="TextBox 9"/>
          <p:cNvSpPr txBox="1"/>
          <p:nvPr/>
        </p:nvSpPr>
        <p:spPr>
          <a:xfrm>
            <a:off x="1691640"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11" name="Rectangle 10"/>
          <p:cNvSpPr/>
          <p:nvPr/>
        </p:nvSpPr>
        <p:spPr>
          <a:xfrm>
            <a:off x="1746504"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46504" y="2057400"/>
            <a:ext cx="1325880" cy="64008"/>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2148840"/>
            <a:ext cx="274320" cy="347472"/>
          </a:xfrm>
          <a:prstGeom prst="rect">
            <a:avLst/>
          </a:prstGeom>
          <a:noFill/>
        </p:spPr>
        <p:txBody>
          <a:bodyPr wrap="square">
            <a:spAutoFit/>
          </a:bodyPr>
          <a:lstStyle/>
          <a:p>
            <a:pPr algn="l"/>
            <a:r>
              <a:rPr sz="1300" b="1" i="0">
                <a:solidFill>
                  <a:srgbClr val="48CAE4"/>
                </a:solidFill>
                <a:latin typeface="Calibri"/>
              </a:rPr>
              <a:t>2</a:t>
            </a:r>
          </a:p>
        </p:txBody>
      </p:sp>
      <p:sp>
        <p:nvSpPr>
          <p:cNvPr id="14" name="TextBox 13"/>
          <p:cNvSpPr txBox="1"/>
          <p:nvPr/>
        </p:nvSpPr>
        <p:spPr>
          <a:xfrm>
            <a:off x="1837944" y="2441448"/>
            <a:ext cx="1188720" cy="594360"/>
          </a:xfrm>
          <a:prstGeom prst="rect">
            <a:avLst/>
          </a:prstGeom>
          <a:noFill/>
        </p:spPr>
        <p:txBody>
          <a:bodyPr wrap="square">
            <a:spAutoFit/>
          </a:bodyPr>
          <a:lstStyle/>
          <a:p>
            <a:pPr algn="l"/>
            <a:r>
              <a:rPr sz="1400" b="1" i="0">
                <a:solidFill>
                  <a:srgbClr val="FFFFFF"/>
                </a:solidFill>
                <a:latin typeface="Calibri"/>
              </a:rPr>
              <a:t>Cleaner</a:t>
            </a:r>
          </a:p>
        </p:txBody>
      </p:sp>
      <p:sp>
        <p:nvSpPr>
          <p:cNvPr id="15" name="TextBox 14"/>
          <p:cNvSpPr txBox="1"/>
          <p:nvPr/>
        </p:nvSpPr>
        <p:spPr>
          <a:xfrm>
            <a:off x="3072384"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16" name="Rectangle 15"/>
          <p:cNvSpPr/>
          <p:nvPr/>
        </p:nvSpPr>
        <p:spPr>
          <a:xfrm>
            <a:off x="3127248"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7248" y="2057400"/>
            <a:ext cx="132588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2148840"/>
            <a:ext cx="274320" cy="347472"/>
          </a:xfrm>
          <a:prstGeom prst="rect">
            <a:avLst/>
          </a:prstGeom>
          <a:noFill/>
        </p:spPr>
        <p:txBody>
          <a:bodyPr wrap="square">
            <a:spAutoFit/>
          </a:bodyPr>
          <a:lstStyle/>
          <a:p>
            <a:pPr algn="l"/>
            <a:r>
              <a:rPr sz="1300" b="1" i="0">
                <a:solidFill>
                  <a:srgbClr val="00B4D8"/>
                </a:solidFill>
                <a:latin typeface="Calibri"/>
              </a:rPr>
              <a:t>3</a:t>
            </a:r>
          </a:p>
        </p:txBody>
      </p:sp>
      <p:sp>
        <p:nvSpPr>
          <p:cNvPr id="19" name="TextBox 18"/>
          <p:cNvSpPr txBox="1"/>
          <p:nvPr/>
        </p:nvSpPr>
        <p:spPr>
          <a:xfrm>
            <a:off x="3218688" y="2441448"/>
            <a:ext cx="1188720" cy="594360"/>
          </a:xfrm>
          <a:prstGeom prst="rect">
            <a:avLst/>
          </a:prstGeom>
          <a:noFill/>
        </p:spPr>
        <p:txBody>
          <a:bodyPr wrap="square">
            <a:spAutoFit/>
          </a:bodyPr>
          <a:lstStyle/>
          <a:p>
            <a:pPr algn="l"/>
            <a:r>
              <a:rPr sz="1400" b="1" i="0">
                <a:solidFill>
                  <a:srgbClr val="FFFFFF"/>
                </a:solidFill>
                <a:latin typeface="Calibri"/>
              </a:rPr>
              <a:t>Prompt
Engineer</a:t>
            </a:r>
          </a:p>
        </p:txBody>
      </p:sp>
      <p:sp>
        <p:nvSpPr>
          <p:cNvPr id="20" name="TextBox 19"/>
          <p:cNvSpPr txBox="1"/>
          <p:nvPr/>
        </p:nvSpPr>
        <p:spPr>
          <a:xfrm>
            <a:off x="4453128"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21" name="Rectangle 20"/>
          <p:cNvSpPr/>
          <p:nvPr/>
        </p:nvSpPr>
        <p:spPr>
          <a:xfrm>
            <a:off x="4507992"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07992" y="2057400"/>
            <a:ext cx="1325880" cy="64008"/>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81144" y="2148840"/>
            <a:ext cx="274320" cy="347472"/>
          </a:xfrm>
          <a:prstGeom prst="rect">
            <a:avLst/>
          </a:prstGeom>
          <a:noFill/>
        </p:spPr>
        <p:txBody>
          <a:bodyPr wrap="square">
            <a:spAutoFit/>
          </a:bodyPr>
          <a:lstStyle/>
          <a:p>
            <a:pPr algn="l"/>
            <a:r>
              <a:rPr sz="1300" b="1" i="0">
                <a:solidFill>
                  <a:srgbClr val="48CAE4"/>
                </a:solidFill>
                <a:latin typeface="Calibri"/>
              </a:rPr>
              <a:t>4</a:t>
            </a:r>
          </a:p>
        </p:txBody>
      </p:sp>
      <p:sp>
        <p:nvSpPr>
          <p:cNvPr id="24" name="TextBox 23"/>
          <p:cNvSpPr txBox="1"/>
          <p:nvPr/>
        </p:nvSpPr>
        <p:spPr>
          <a:xfrm>
            <a:off x="4599432" y="2441448"/>
            <a:ext cx="1188720" cy="594360"/>
          </a:xfrm>
          <a:prstGeom prst="rect">
            <a:avLst/>
          </a:prstGeom>
          <a:noFill/>
        </p:spPr>
        <p:txBody>
          <a:bodyPr wrap="square">
            <a:spAutoFit/>
          </a:bodyPr>
          <a:lstStyle/>
          <a:p>
            <a:pPr algn="l"/>
            <a:r>
              <a:rPr sz="1400" b="1" i="0">
                <a:solidFill>
                  <a:srgbClr val="FFFFFF"/>
                </a:solidFill>
                <a:latin typeface="Calibri"/>
              </a:rPr>
              <a:t>Analyst</a:t>
            </a:r>
          </a:p>
        </p:txBody>
      </p:sp>
      <p:sp>
        <p:nvSpPr>
          <p:cNvPr id="25" name="TextBox 24"/>
          <p:cNvSpPr txBox="1"/>
          <p:nvPr/>
        </p:nvSpPr>
        <p:spPr>
          <a:xfrm>
            <a:off x="5833872"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26" name="Rectangle 25"/>
          <p:cNvSpPr/>
          <p:nvPr/>
        </p:nvSpPr>
        <p:spPr>
          <a:xfrm>
            <a:off x="5888736"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88736" y="2057400"/>
            <a:ext cx="132588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61888" y="2148840"/>
            <a:ext cx="274320" cy="347472"/>
          </a:xfrm>
          <a:prstGeom prst="rect">
            <a:avLst/>
          </a:prstGeom>
          <a:noFill/>
        </p:spPr>
        <p:txBody>
          <a:bodyPr wrap="square">
            <a:spAutoFit/>
          </a:bodyPr>
          <a:lstStyle/>
          <a:p>
            <a:pPr algn="l"/>
            <a:r>
              <a:rPr sz="1300" b="1" i="0">
                <a:solidFill>
                  <a:srgbClr val="00B4D8"/>
                </a:solidFill>
                <a:latin typeface="Calibri"/>
              </a:rPr>
              <a:t>5</a:t>
            </a:r>
          </a:p>
        </p:txBody>
      </p:sp>
      <p:sp>
        <p:nvSpPr>
          <p:cNvPr id="29" name="TextBox 28"/>
          <p:cNvSpPr txBox="1"/>
          <p:nvPr/>
        </p:nvSpPr>
        <p:spPr>
          <a:xfrm>
            <a:off x="5980176" y="2441448"/>
            <a:ext cx="1188720" cy="594360"/>
          </a:xfrm>
          <a:prstGeom prst="rect">
            <a:avLst/>
          </a:prstGeom>
          <a:noFill/>
        </p:spPr>
        <p:txBody>
          <a:bodyPr wrap="square">
            <a:spAutoFit/>
          </a:bodyPr>
          <a:lstStyle/>
          <a:p>
            <a:pPr algn="l"/>
            <a:r>
              <a:rPr sz="1400" b="1" i="0">
                <a:solidFill>
                  <a:srgbClr val="FFFFFF"/>
                </a:solidFill>
                <a:latin typeface="Calibri"/>
              </a:rPr>
              <a:t>Sports
Scientist</a:t>
            </a:r>
          </a:p>
        </p:txBody>
      </p:sp>
      <p:sp>
        <p:nvSpPr>
          <p:cNvPr id="30" name="TextBox 29"/>
          <p:cNvSpPr txBox="1"/>
          <p:nvPr/>
        </p:nvSpPr>
        <p:spPr>
          <a:xfrm>
            <a:off x="7214616"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31" name="Rectangle 30"/>
          <p:cNvSpPr/>
          <p:nvPr/>
        </p:nvSpPr>
        <p:spPr>
          <a:xfrm>
            <a:off x="7269480"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69480" y="2057400"/>
            <a:ext cx="1325880" cy="64008"/>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42631" y="2148840"/>
            <a:ext cx="274320" cy="347472"/>
          </a:xfrm>
          <a:prstGeom prst="rect">
            <a:avLst/>
          </a:prstGeom>
          <a:noFill/>
        </p:spPr>
        <p:txBody>
          <a:bodyPr wrap="square">
            <a:spAutoFit/>
          </a:bodyPr>
          <a:lstStyle/>
          <a:p>
            <a:pPr algn="l"/>
            <a:r>
              <a:rPr sz="1300" b="1" i="0">
                <a:solidFill>
                  <a:srgbClr val="48CAE4"/>
                </a:solidFill>
                <a:latin typeface="Calibri"/>
              </a:rPr>
              <a:t>6</a:t>
            </a:r>
          </a:p>
        </p:txBody>
      </p:sp>
      <p:sp>
        <p:nvSpPr>
          <p:cNvPr id="34" name="TextBox 33"/>
          <p:cNvSpPr txBox="1"/>
          <p:nvPr/>
        </p:nvSpPr>
        <p:spPr>
          <a:xfrm>
            <a:off x="7360920" y="2441448"/>
            <a:ext cx="1188720" cy="594360"/>
          </a:xfrm>
          <a:prstGeom prst="rect">
            <a:avLst/>
          </a:prstGeom>
          <a:noFill/>
        </p:spPr>
        <p:txBody>
          <a:bodyPr wrap="square">
            <a:spAutoFit/>
          </a:bodyPr>
          <a:lstStyle/>
          <a:p>
            <a:pPr algn="l"/>
            <a:r>
              <a:rPr sz="1400" b="1" i="0">
                <a:solidFill>
                  <a:srgbClr val="FFFFFF"/>
                </a:solidFill>
                <a:latin typeface="Calibri"/>
              </a:rPr>
              <a:t>Trend
Analyzer</a:t>
            </a:r>
          </a:p>
        </p:txBody>
      </p:sp>
      <p:sp>
        <p:nvSpPr>
          <p:cNvPr id="35" name="TextBox 34"/>
          <p:cNvSpPr txBox="1"/>
          <p:nvPr/>
        </p:nvSpPr>
        <p:spPr>
          <a:xfrm>
            <a:off x="8595360"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36" name="Rectangle 35"/>
          <p:cNvSpPr/>
          <p:nvPr/>
        </p:nvSpPr>
        <p:spPr>
          <a:xfrm>
            <a:off x="8650224"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50224" y="2057400"/>
            <a:ext cx="132588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23376" y="2148840"/>
            <a:ext cx="274320" cy="347472"/>
          </a:xfrm>
          <a:prstGeom prst="rect">
            <a:avLst/>
          </a:prstGeom>
          <a:noFill/>
        </p:spPr>
        <p:txBody>
          <a:bodyPr wrap="square">
            <a:spAutoFit/>
          </a:bodyPr>
          <a:lstStyle/>
          <a:p>
            <a:pPr algn="l"/>
            <a:r>
              <a:rPr sz="1300" b="1" i="0">
                <a:solidFill>
                  <a:srgbClr val="00B4D8"/>
                </a:solidFill>
                <a:latin typeface="Calibri"/>
              </a:rPr>
              <a:t>7</a:t>
            </a:r>
          </a:p>
        </p:txBody>
      </p:sp>
      <p:sp>
        <p:nvSpPr>
          <p:cNvPr id="39" name="TextBox 38"/>
          <p:cNvSpPr txBox="1"/>
          <p:nvPr/>
        </p:nvSpPr>
        <p:spPr>
          <a:xfrm>
            <a:off x="8741664" y="2441448"/>
            <a:ext cx="1188720" cy="594360"/>
          </a:xfrm>
          <a:prstGeom prst="rect">
            <a:avLst/>
          </a:prstGeom>
          <a:noFill/>
        </p:spPr>
        <p:txBody>
          <a:bodyPr wrap="square">
            <a:spAutoFit/>
          </a:bodyPr>
          <a:lstStyle/>
          <a:p>
            <a:pPr algn="l"/>
            <a:r>
              <a:rPr sz="1400" b="1" i="0">
                <a:solidFill>
                  <a:srgbClr val="FFFFFF"/>
                </a:solidFill>
                <a:latin typeface="Calibri"/>
              </a:rPr>
              <a:t>Formatter</a:t>
            </a:r>
          </a:p>
        </p:txBody>
      </p:sp>
      <p:sp>
        <p:nvSpPr>
          <p:cNvPr id="40" name="TextBox 39"/>
          <p:cNvSpPr txBox="1"/>
          <p:nvPr/>
        </p:nvSpPr>
        <p:spPr>
          <a:xfrm>
            <a:off x="9976104" y="2377440"/>
            <a:ext cx="109728" cy="411480"/>
          </a:xfrm>
          <a:prstGeom prst="rect">
            <a:avLst/>
          </a:prstGeom>
          <a:noFill/>
        </p:spPr>
        <p:txBody>
          <a:bodyPr wrap="square">
            <a:spAutoFit/>
          </a:bodyPr>
          <a:lstStyle/>
          <a:p>
            <a:pPr algn="ctr"/>
            <a:r>
              <a:rPr sz="1400" b="1" i="0">
                <a:solidFill>
                  <a:srgbClr val="6088A8"/>
                </a:solidFill>
                <a:latin typeface="Calibri"/>
              </a:rPr>
              <a:t>→</a:t>
            </a:r>
          </a:p>
        </p:txBody>
      </p:sp>
      <p:sp>
        <p:nvSpPr>
          <p:cNvPr id="41" name="Rectangle 40"/>
          <p:cNvSpPr/>
          <p:nvPr/>
        </p:nvSpPr>
        <p:spPr>
          <a:xfrm>
            <a:off x="10030968" y="2057400"/>
            <a:ext cx="1325880" cy="10058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030968" y="2057400"/>
            <a:ext cx="1325880" cy="64008"/>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04120" y="2148840"/>
            <a:ext cx="274320" cy="347472"/>
          </a:xfrm>
          <a:prstGeom prst="rect">
            <a:avLst/>
          </a:prstGeom>
          <a:noFill/>
        </p:spPr>
        <p:txBody>
          <a:bodyPr wrap="square">
            <a:spAutoFit/>
          </a:bodyPr>
          <a:lstStyle/>
          <a:p>
            <a:pPr algn="l"/>
            <a:r>
              <a:rPr sz="1300" b="1" i="0">
                <a:solidFill>
                  <a:srgbClr val="48CAE4"/>
                </a:solidFill>
                <a:latin typeface="Calibri"/>
              </a:rPr>
              <a:t>8</a:t>
            </a:r>
          </a:p>
        </p:txBody>
      </p:sp>
      <p:sp>
        <p:nvSpPr>
          <p:cNvPr id="44" name="TextBox 43"/>
          <p:cNvSpPr txBox="1"/>
          <p:nvPr/>
        </p:nvSpPr>
        <p:spPr>
          <a:xfrm>
            <a:off x="10122408" y="2441448"/>
            <a:ext cx="1188720" cy="594360"/>
          </a:xfrm>
          <a:prstGeom prst="rect">
            <a:avLst/>
          </a:prstGeom>
          <a:noFill/>
        </p:spPr>
        <p:txBody>
          <a:bodyPr wrap="square">
            <a:spAutoFit/>
          </a:bodyPr>
          <a:lstStyle/>
          <a:p>
            <a:pPr algn="l"/>
            <a:r>
              <a:rPr sz="1400" b="1" i="0">
                <a:solidFill>
                  <a:srgbClr val="FFFFFF"/>
                </a:solidFill>
                <a:latin typeface="Calibri"/>
              </a:rPr>
              <a:t>QA Critic</a:t>
            </a:r>
          </a:p>
        </p:txBody>
      </p:sp>
      <p:sp>
        <p:nvSpPr>
          <p:cNvPr id="45" name="TextBox 44"/>
          <p:cNvSpPr txBox="1"/>
          <p:nvPr/>
        </p:nvSpPr>
        <p:spPr>
          <a:xfrm>
            <a:off x="457200" y="3429000"/>
            <a:ext cx="1828800" cy="365760"/>
          </a:xfrm>
          <a:prstGeom prst="rect">
            <a:avLst/>
          </a:prstGeom>
          <a:noFill/>
        </p:spPr>
        <p:txBody>
          <a:bodyPr wrap="square">
            <a:spAutoFit/>
          </a:bodyPr>
          <a:lstStyle/>
          <a:p>
            <a:pPr algn="l"/>
            <a:r>
              <a:rPr sz="1300" b="1" i="0">
                <a:solidFill>
                  <a:srgbClr val="00B4D8"/>
                </a:solidFill>
                <a:latin typeface="Calibri"/>
              </a:rPr>
              <a:t>STACK</a:t>
            </a:r>
          </a:p>
        </p:txBody>
      </p:sp>
      <p:sp>
        <p:nvSpPr>
          <p:cNvPr id="46" name="Rectangle 45"/>
          <p:cNvSpPr/>
          <p:nvPr/>
        </p:nvSpPr>
        <p:spPr>
          <a:xfrm>
            <a:off x="457200" y="3840480"/>
            <a:ext cx="2743200" cy="82296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913632"/>
            <a:ext cx="1371600" cy="320040"/>
          </a:xfrm>
          <a:prstGeom prst="rect">
            <a:avLst/>
          </a:prstGeom>
          <a:noFill/>
        </p:spPr>
        <p:txBody>
          <a:bodyPr wrap="square">
            <a:spAutoFit/>
          </a:bodyPr>
          <a:lstStyle/>
          <a:p>
            <a:pPr algn="l"/>
            <a:r>
              <a:rPr sz="1300" b="1" i="0">
                <a:solidFill>
                  <a:srgbClr val="48CAE4"/>
                </a:solidFill>
                <a:latin typeface="Calibri"/>
              </a:rPr>
              <a:t>Frontend</a:t>
            </a:r>
          </a:p>
        </p:txBody>
      </p:sp>
      <p:sp>
        <p:nvSpPr>
          <p:cNvPr id="48" name="TextBox 47"/>
          <p:cNvSpPr txBox="1"/>
          <p:nvPr/>
        </p:nvSpPr>
        <p:spPr>
          <a:xfrm>
            <a:off x="594360" y="4206240"/>
            <a:ext cx="2560320" cy="502920"/>
          </a:xfrm>
          <a:prstGeom prst="rect">
            <a:avLst/>
          </a:prstGeom>
          <a:noFill/>
        </p:spPr>
        <p:txBody>
          <a:bodyPr wrap="square">
            <a:spAutoFit/>
          </a:bodyPr>
          <a:lstStyle/>
          <a:p>
            <a:pPr algn="l"/>
            <a:r>
              <a:rPr sz="1200" b="0" i="0">
                <a:solidFill>
                  <a:srgbClr val="B8D4E8"/>
                </a:solidFill>
                <a:latin typeface="Calibri"/>
              </a:rPr>
              <a:t>React 19 · Vite · Clerk · Chart.js · Leaflet · PWA</a:t>
            </a:r>
          </a:p>
        </p:txBody>
      </p:sp>
      <p:sp>
        <p:nvSpPr>
          <p:cNvPr id="49" name="Rectangle 48"/>
          <p:cNvSpPr/>
          <p:nvPr/>
        </p:nvSpPr>
        <p:spPr>
          <a:xfrm>
            <a:off x="3383280" y="3840480"/>
            <a:ext cx="2743200" cy="82296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520440" y="3913632"/>
            <a:ext cx="1371600" cy="320040"/>
          </a:xfrm>
          <a:prstGeom prst="rect">
            <a:avLst/>
          </a:prstGeom>
          <a:noFill/>
        </p:spPr>
        <p:txBody>
          <a:bodyPr wrap="square">
            <a:spAutoFit/>
          </a:bodyPr>
          <a:lstStyle/>
          <a:p>
            <a:pPr algn="l"/>
            <a:r>
              <a:rPr sz="1300" b="1" i="0">
                <a:solidFill>
                  <a:srgbClr val="48CAE4"/>
                </a:solidFill>
                <a:latin typeface="Calibri"/>
              </a:rPr>
              <a:t>Backend</a:t>
            </a:r>
          </a:p>
        </p:txBody>
      </p:sp>
      <p:sp>
        <p:nvSpPr>
          <p:cNvPr id="51" name="TextBox 50"/>
          <p:cNvSpPr txBox="1"/>
          <p:nvPr/>
        </p:nvSpPr>
        <p:spPr>
          <a:xfrm>
            <a:off x="3520440" y="4206240"/>
            <a:ext cx="2560320" cy="502920"/>
          </a:xfrm>
          <a:prstGeom prst="rect">
            <a:avLst/>
          </a:prstGeom>
          <a:noFill/>
        </p:spPr>
        <p:txBody>
          <a:bodyPr wrap="square">
            <a:spAutoFit/>
          </a:bodyPr>
          <a:lstStyle/>
          <a:p>
            <a:pPr algn="l"/>
            <a:r>
              <a:rPr sz="1200" b="0" i="0">
                <a:solidFill>
                  <a:srgbClr val="B8D4E8"/>
                </a:solidFill>
                <a:latin typeface="Calibri"/>
              </a:rPr>
              <a:t>FastAPI · Vercel (always-on) · Supabase Postgres · RLS</a:t>
            </a:r>
          </a:p>
        </p:txBody>
      </p:sp>
      <p:sp>
        <p:nvSpPr>
          <p:cNvPr id="52" name="Rectangle 51"/>
          <p:cNvSpPr/>
          <p:nvPr/>
        </p:nvSpPr>
        <p:spPr>
          <a:xfrm>
            <a:off x="6309360" y="3840480"/>
            <a:ext cx="2743200" cy="82296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46520" y="3913632"/>
            <a:ext cx="1371600" cy="320040"/>
          </a:xfrm>
          <a:prstGeom prst="rect">
            <a:avLst/>
          </a:prstGeom>
          <a:noFill/>
        </p:spPr>
        <p:txBody>
          <a:bodyPr wrap="square">
            <a:spAutoFit/>
          </a:bodyPr>
          <a:lstStyle/>
          <a:p>
            <a:pPr algn="l"/>
            <a:r>
              <a:rPr sz="1300" b="1" i="0">
                <a:solidFill>
                  <a:srgbClr val="48CAE4"/>
                </a:solidFill>
                <a:latin typeface="Calibri"/>
              </a:rPr>
              <a:t>AI Heavy</a:t>
            </a:r>
          </a:p>
        </p:txBody>
      </p:sp>
      <p:sp>
        <p:nvSpPr>
          <p:cNvPr id="54" name="TextBox 53"/>
          <p:cNvSpPr txBox="1"/>
          <p:nvPr/>
        </p:nvSpPr>
        <p:spPr>
          <a:xfrm>
            <a:off x="6446520" y="4206240"/>
            <a:ext cx="2560320" cy="502920"/>
          </a:xfrm>
          <a:prstGeom prst="rect">
            <a:avLst/>
          </a:prstGeom>
          <a:noFill/>
        </p:spPr>
        <p:txBody>
          <a:bodyPr wrap="square">
            <a:spAutoFit/>
          </a:bodyPr>
          <a:lstStyle/>
          <a:p>
            <a:pPr algn="l"/>
            <a:r>
              <a:rPr sz="1200" b="0" i="0">
                <a:solidFill>
                  <a:srgbClr val="B8D4E8"/>
                </a:solidFill>
                <a:latin typeface="Calibri"/>
              </a:rPr>
              <a:t>CrewAI · litellm · Groq + OpenRouter free pool · HF Space</a:t>
            </a:r>
          </a:p>
        </p:txBody>
      </p:sp>
      <p:sp>
        <p:nvSpPr>
          <p:cNvPr id="55" name="Rectangle 54"/>
          <p:cNvSpPr/>
          <p:nvPr/>
        </p:nvSpPr>
        <p:spPr>
          <a:xfrm>
            <a:off x="9235440" y="3840480"/>
            <a:ext cx="2743200" cy="82296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72600" y="3913632"/>
            <a:ext cx="1371600" cy="320040"/>
          </a:xfrm>
          <a:prstGeom prst="rect">
            <a:avLst/>
          </a:prstGeom>
          <a:noFill/>
        </p:spPr>
        <p:txBody>
          <a:bodyPr wrap="square">
            <a:spAutoFit/>
          </a:bodyPr>
          <a:lstStyle/>
          <a:p>
            <a:pPr algn="l"/>
            <a:r>
              <a:rPr sz="1300" b="1" i="0">
                <a:solidFill>
                  <a:srgbClr val="48CAE4"/>
                </a:solidFill>
                <a:latin typeface="Calibri"/>
              </a:rPr>
              <a:t>AI Light</a:t>
            </a:r>
          </a:p>
        </p:txBody>
      </p:sp>
      <p:sp>
        <p:nvSpPr>
          <p:cNvPr id="57" name="TextBox 56"/>
          <p:cNvSpPr txBox="1"/>
          <p:nvPr/>
        </p:nvSpPr>
        <p:spPr>
          <a:xfrm>
            <a:off x="9372600" y="4206240"/>
            <a:ext cx="2560320" cy="502920"/>
          </a:xfrm>
          <a:prstGeom prst="rect">
            <a:avLst/>
          </a:prstGeom>
          <a:noFill/>
        </p:spPr>
        <p:txBody>
          <a:bodyPr wrap="square">
            <a:spAutoFit/>
          </a:bodyPr>
          <a:lstStyle/>
          <a:p>
            <a:pPr algn="l"/>
            <a:r>
              <a:rPr sz="1200" b="0" i="0">
                <a:solidFill>
                  <a:srgbClr val="B8D4E8"/>
                </a:solidFill>
                <a:latin typeface="Calibri"/>
              </a:rPr>
              <a:t>Single LLM calls via llm_lite.py — multi-model failover · 200/day rate limit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9144000" cy="548640"/>
          </a:xfrm>
          <a:prstGeom prst="rect">
            <a:avLst/>
          </a:prstGeom>
          <a:noFill/>
        </p:spPr>
        <p:txBody>
          <a:bodyPr wrap="square">
            <a:spAutoFit/>
          </a:bodyPr>
          <a:lstStyle/>
          <a:p>
            <a:pPr algn="l"/>
            <a:r>
              <a:rPr sz="1300" b="1" i="0">
                <a:solidFill>
                  <a:srgbClr val="00B4D8"/>
                </a:solidFill>
                <a:latin typeface="Calibri"/>
              </a:rPr>
              <a:t>IMPACT</a:t>
            </a:r>
          </a:p>
        </p:txBody>
      </p:sp>
      <p:sp>
        <p:nvSpPr>
          <p:cNvPr id="4" name="TextBox 3"/>
          <p:cNvSpPr txBox="1"/>
          <p:nvPr/>
        </p:nvSpPr>
        <p:spPr>
          <a:xfrm>
            <a:off x="457200" y="914400"/>
            <a:ext cx="8686800" cy="1463040"/>
          </a:xfrm>
          <a:prstGeom prst="rect">
            <a:avLst/>
          </a:prstGeom>
          <a:noFill/>
        </p:spPr>
        <p:txBody>
          <a:bodyPr wrap="square">
            <a:spAutoFit/>
          </a:bodyPr>
          <a:lstStyle/>
          <a:p>
            <a:pPr algn="l"/>
            <a:r>
              <a:rPr sz="4000" b="1" i="0">
                <a:solidFill>
                  <a:srgbClr val="FFFFFF"/>
                </a:solidFill>
                <a:latin typeface="Calibri"/>
              </a:rPr>
              <a:t>Democratizing sports-science
for everyone with a phone.</a:t>
            </a:r>
          </a:p>
        </p:txBody>
      </p:sp>
      <p:sp>
        <p:nvSpPr>
          <p:cNvPr id="5" name="Rectangle 4"/>
          <p:cNvSpPr/>
          <p:nvPr/>
        </p:nvSpPr>
        <p:spPr>
          <a:xfrm>
            <a:off x="457200" y="2514600"/>
            <a:ext cx="182880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2834640"/>
            <a:ext cx="5394960" cy="14630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834640"/>
            <a:ext cx="539496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71800"/>
            <a:ext cx="5029200" cy="640080"/>
          </a:xfrm>
          <a:prstGeom prst="rect">
            <a:avLst/>
          </a:prstGeom>
          <a:noFill/>
        </p:spPr>
        <p:txBody>
          <a:bodyPr wrap="square">
            <a:spAutoFit/>
          </a:bodyPr>
          <a:lstStyle/>
          <a:p>
            <a:pPr algn="l"/>
            <a:r>
              <a:rPr sz="3000" b="1" i="0">
                <a:solidFill>
                  <a:srgbClr val="00B4D8"/>
                </a:solidFill>
                <a:latin typeface="Calibri"/>
              </a:rPr>
              <a:t>1 billion+</a:t>
            </a:r>
          </a:p>
        </p:txBody>
      </p:sp>
      <p:sp>
        <p:nvSpPr>
          <p:cNvPr id="9" name="TextBox 8"/>
          <p:cNvSpPr txBox="1"/>
          <p:nvPr/>
        </p:nvSpPr>
        <p:spPr>
          <a:xfrm>
            <a:off x="640080" y="3584448"/>
            <a:ext cx="5029200" cy="658368"/>
          </a:xfrm>
          <a:prstGeom prst="rect">
            <a:avLst/>
          </a:prstGeom>
          <a:noFill/>
        </p:spPr>
        <p:txBody>
          <a:bodyPr wrap="square">
            <a:spAutoFit/>
          </a:bodyPr>
          <a:lstStyle/>
          <a:p>
            <a:pPr algn="l"/>
            <a:r>
              <a:rPr sz="1600" b="0" i="0">
                <a:solidFill>
                  <a:srgbClr val="B8D4E8"/>
                </a:solidFill>
                <a:latin typeface="Calibri"/>
              </a:rPr>
              <a:t>wearable users worldwide
locked in data silos</a:t>
            </a:r>
          </a:p>
        </p:txBody>
      </p:sp>
      <p:sp>
        <p:nvSpPr>
          <p:cNvPr id="10" name="Rectangle 9"/>
          <p:cNvSpPr/>
          <p:nvPr/>
        </p:nvSpPr>
        <p:spPr>
          <a:xfrm>
            <a:off x="6309360" y="2834640"/>
            <a:ext cx="5394960" cy="14630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2834640"/>
            <a:ext cx="539496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971800"/>
            <a:ext cx="5029200" cy="640080"/>
          </a:xfrm>
          <a:prstGeom prst="rect">
            <a:avLst/>
          </a:prstGeom>
          <a:noFill/>
        </p:spPr>
        <p:txBody>
          <a:bodyPr wrap="square">
            <a:spAutoFit/>
          </a:bodyPr>
          <a:lstStyle/>
          <a:p>
            <a:pPr algn="l"/>
            <a:r>
              <a:rPr sz="3000" b="1" i="0">
                <a:solidFill>
                  <a:srgbClr val="00B4D8"/>
                </a:solidFill>
                <a:latin typeface="Calibri"/>
              </a:rPr>
              <a:t>$150–300/mo</a:t>
            </a:r>
          </a:p>
        </p:txBody>
      </p:sp>
      <p:sp>
        <p:nvSpPr>
          <p:cNvPr id="13" name="TextBox 12"/>
          <p:cNvSpPr txBox="1"/>
          <p:nvPr/>
        </p:nvSpPr>
        <p:spPr>
          <a:xfrm>
            <a:off x="6492240" y="3584448"/>
            <a:ext cx="5029200" cy="658368"/>
          </a:xfrm>
          <a:prstGeom prst="rect">
            <a:avLst/>
          </a:prstGeom>
          <a:noFill/>
        </p:spPr>
        <p:txBody>
          <a:bodyPr wrap="square">
            <a:spAutoFit/>
          </a:bodyPr>
          <a:lstStyle/>
          <a:p>
            <a:pPr algn="l"/>
            <a:r>
              <a:rPr sz="1600" b="0" i="0">
                <a:solidFill>
                  <a:srgbClr val="B8D4E8"/>
                </a:solidFill>
                <a:latin typeface="Calibri"/>
              </a:rPr>
              <a:t>average personal trainer cost —
this is free</a:t>
            </a:r>
          </a:p>
        </p:txBody>
      </p:sp>
      <p:sp>
        <p:nvSpPr>
          <p:cNvPr id="14" name="Rectangle 13"/>
          <p:cNvSpPr/>
          <p:nvPr/>
        </p:nvSpPr>
        <p:spPr>
          <a:xfrm>
            <a:off x="457200" y="4663440"/>
            <a:ext cx="5394960" cy="14630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663440"/>
            <a:ext cx="539496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00600"/>
            <a:ext cx="5029200" cy="640080"/>
          </a:xfrm>
          <a:prstGeom prst="rect">
            <a:avLst/>
          </a:prstGeom>
          <a:noFill/>
        </p:spPr>
        <p:txBody>
          <a:bodyPr wrap="square">
            <a:spAutoFit/>
          </a:bodyPr>
          <a:lstStyle/>
          <a:p>
            <a:pPr algn="l"/>
            <a:r>
              <a:rPr sz="3000" b="1" i="0">
                <a:solidFill>
                  <a:srgbClr val="00B4D8"/>
                </a:solidFill>
                <a:latin typeface="Calibri"/>
              </a:rPr>
              <a:t>13+ sources</a:t>
            </a:r>
          </a:p>
        </p:txBody>
      </p:sp>
      <p:sp>
        <p:nvSpPr>
          <p:cNvPr id="17" name="TextBox 16"/>
          <p:cNvSpPr txBox="1"/>
          <p:nvPr/>
        </p:nvSpPr>
        <p:spPr>
          <a:xfrm>
            <a:off x="640080" y="5413248"/>
            <a:ext cx="5029200" cy="658368"/>
          </a:xfrm>
          <a:prstGeom prst="rect">
            <a:avLst/>
          </a:prstGeom>
          <a:noFill/>
        </p:spPr>
        <p:txBody>
          <a:bodyPr wrap="square">
            <a:spAutoFit/>
          </a:bodyPr>
          <a:lstStyle/>
          <a:p>
            <a:pPr algn="l"/>
            <a:r>
              <a:rPr sz="1600" b="0" i="0">
                <a:solidFill>
                  <a:srgbClr val="B8D4E8"/>
                </a:solidFill>
                <a:latin typeface="Calibri"/>
              </a:rPr>
              <a:t>supported at launch,
zero hardware required</a:t>
            </a:r>
          </a:p>
        </p:txBody>
      </p:sp>
      <p:sp>
        <p:nvSpPr>
          <p:cNvPr id="18" name="Rectangle 17"/>
          <p:cNvSpPr/>
          <p:nvPr/>
        </p:nvSpPr>
        <p:spPr>
          <a:xfrm>
            <a:off x="6309360" y="4663440"/>
            <a:ext cx="5394960" cy="146304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4663440"/>
            <a:ext cx="5394960" cy="6400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4800600"/>
            <a:ext cx="5029200" cy="640080"/>
          </a:xfrm>
          <a:prstGeom prst="rect">
            <a:avLst/>
          </a:prstGeom>
          <a:noFill/>
        </p:spPr>
        <p:txBody>
          <a:bodyPr wrap="square">
            <a:spAutoFit/>
          </a:bodyPr>
          <a:lstStyle/>
          <a:p>
            <a:pPr algn="l"/>
            <a:r>
              <a:rPr sz="3000" b="1" i="0">
                <a:solidFill>
                  <a:srgbClr val="00B4D8"/>
                </a:solidFill>
                <a:latin typeface="Calibri"/>
              </a:rPr>
              <a:t>5 AI features</a:t>
            </a:r>
          </a:p>
        </p:txBody>
      </p:sp>
      <p:sp>
        <p:nvSpPr>
          <p:cNvPr id="21" name="TextBox 20"/>
          <p:cNvSpPr txBox="1"/>
          <p:nvPr/>
        </p:nvSpPr>
        <p:spPr>
          <a:xfrm>
            <a:off x="6492240" y="5413248"/>
            <a:ext cx="5029200" cy="658368"/>
          </a:xfrm>
          <a:prstGeom prst="rect">
            <a:avLst/>
          </a:prstGeom>
          <a:noFill/>
        </p:spPr>
        <p:txBody>
          <a:bodyPr wrap="square">
            <a:spAutoFit/>
          </a:bodyPr>
          <a:lstStyle/>
          <a:p>
            <a:pPr algn="l"/>
            <a:r>
              <a:rPr sz="1600" b="0" i="0">
                <a:solidFill>
                  <a:srgbClr val="B8D4E8"/>
                </a:solidFill>
                <a:latin typeface="Calibri"/>
              </a:rPr>
              <a:t>live and deployed today —
not a mockup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9144000" cy="548640"/>
          </a:xfrm>
          <a:prstGeom prst="rect">
            <a:avLst/>
          </a:prstGeom>
          <a:noFill/>
        </p:spPr>
        <p:txBody>
          <a:bodyPr wrap="square">
            <a:spAutoFit/>
          </a:bodyPr>
          <a:lstStyle/>
          <a:p>
            <a:pPr algn="l"/>
            <a:r>
              <a:rPr sz="1300" b="1" i="0">
                <a:solidFill>
                  <a:srgbClr val="00B4D8"/>
                </a:solidFill>
                <a:latin typeface="Calibri"/>
              </a:rPr>
              <a:t>LIVE DEMO</a:t>
            </a:r>
          </a:p>
        </p:txBody>
      </p:sp>
      <p:sp>
        <p:nvSpPr>
          <p:cNvPr id="4" name="TextBox 3"/>
          <p:cNvSpPr txBox="1"/>
          <p:nvPr/>
        </p:nvSpPr>
        <p:spPr>
          <a:xfrm>
            <a:off x="457200" y="960120"/>
            <a:ext cx="9144000" cy="685800"/>
          </a:xfrm>
          <a:prstGeom prst="rect">
            <a:avLst/>
          </a:prstGeom>
          <a:noFill/>
        </p:spPr>
        <p:txBody>
          <a:bodyPr wrap="square">
            <a:spAutoFit/>
          </a:bodyPr>
          <a:lstStyle/>
          <a:p>
            <a:pPr algn="l"/>
            <a:r>
              <a:rPr sz="3800" b="1" i="0">
                <a:solidFill>
                  <a:srgbClr val="FFFFFF"/>
                </a:solidFill>
                <a:latin typeface="Calibri"/>
              </a:rPr>
              <a:t>Built, deployed, and running now.</a:t>
            </a:r>
          </a:p>
        </p:txBody>
      </p:sp>
      <p:sp>
        <p:nvSpPr>
          <p:cNvPr id="5" name="Rectangle 4"/>
          <p:cNvSpPr/>
          <p:nvPr/>
        </p:nvSpPr>
        <p:spPr>
          <a:xfrm>
            <a:off x="457200" y="1783080"/>
            <a:ext cx="146304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2103120"/>
            <a:ext cx="10972800" cy="86868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103120"/>
            <a:ext cx="73152" cy="868680"/>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94560"/>
            <a:ext cx="5029200" cy="411480"/>
          </a:xfrm>
          <a:prstGeom prst="rect">
            <a:avLst/>
          </a:prstGeom>
          <a:noFill/>
        </p:spPr>
        <p:txBody>
          <a:bodyPr wrap="square">
            <a:spAutoFit/>
          </a:bodyPr>
          <a:lstStyle/>
          <a:p>
            <a:pPr algn="l"/>
            <a:r>
              <a:rPr sz="1700" b="1" i="0">
                <a:solidFill>
                  <a:srgbClr val="FFFFFF"/>
                </a:solidFill>
                <a:latin typeface="Calibri"/>
              </a:rPr>
              <a:t>fitness-ai-agents.vercel.app</a:t>
            </a:r>
          </a:p>
        </p:txBody>
      </p:sp>
      <p:sp>
        <p:nvSpPr>
          <p:cNvPr id="9" name="TextBox 8"/>
          <p:cNvSpPr txBox="1"/>
          <p:nvPr/>
        </p:nvSpPr>
        <p:spPr>
          <a:xfrm>
            <a:off x="685800" y="2578608"/>
            <a:ext cx="10515600" cy="347472"/>
          </a:xfrm>
          <a:prstGeom prst="rect">
            <a:avLst/>
          </a:prstGeom>
          <a:noFill/>
        </p:spPr>
        <p:txBody>
          <a:bodyPr wrap="square">
            <a:spAutoFit/>
          </a:bodyPr>
          <a:lstStyle/>
          <a:p>
            <a:pPr algn="l"/>
            <a:r>
              <a:rPr sz="1500" b="0" i="0">
                <a:solidFill>
                  <a:srgbClr val="B8D4E8"/>
                </a:solidFill>
                <a:latin typeface="Calibri"/>
              </a:rPr>
              <a:t>Full dashboard — sign up or use /demo (no auth required)</a:t>
            </a:r>
          </a:p>
        </p:txBody>
      </p:sp>
      <p:sp>
        <p:nvSpPr>
          <p:cNvPr id="10" name="Rectangle 9"/>
          <p:cNvSpPr/>
          <p:nvPr/>
        </p:nvSpPr>
        <p:spPr>
          <a:xfrm>
            <a:off x="457200" y="3154679"/>
            <a:ext cx="10972800" cy="86868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3154679"/>
            <a:ext cx="73152" cy="868680"/>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246120"/>
            <a:ext cx="5029200" cy="411480"/>
          </a:xfrm>
          <a:prstGeom prst="rect">
            <a:avLst/>
          </a:prstGeom>
          <a:noFill/>
        </p:spPr>
        <p:txBody>
          <a:bodyPr wrap="square">
            <a:spAutoFit/>
          </a:bodyPr>
          <a:lstStyle/>
          <a:p>
            <a:pPr algn="l"/>
            <a:r>
              <a:rPr sz="1700" b="1" i="0">
                <a:solidFill>
                  <a:srgbClr val="FFFFFF"/>
                </a:solidFill>
                <a:latin typeface="Calibri"/>
              </a:rPr>
              <a:t>pymite6941-fitness-ai-agents-demo.hf.space</a:t>
            </a:r>
          </a:p>
        </p:txBody>
      </p:sp>
      <p:sp>
        <p:nvSpPr>
          <p:cNvPr id="13" name="TextBox 12"/>
          <p:cNvSpPr txBox="1"/>
          <p:nvPr/>
        </p:nvSpPr>
        <p:spPr>
          <a:xfrm>
            <a:off x="685800" y="3630168"/>
            <a:ext cx="10515600" cy="347472"/>
          </a:xfrm>
          <a:prstGeom prst="rect">
            <a:avLst/>
          </a:prstGeom>
          <a:noFill/>
        </p:spPr>
        <p:txBody>
          <a:bodyPr wrap="square">
            <a:spAutoFit/>
          </a:bodyPr>
          <a:lstStyle/>
          <a:p>
            <a:pPr algn="l"/>
            <a:r>
              <a:rPr sz="1500" b="0" i="0">
                <a:solidFill>
                  <a:srgbClr val="B8D4E8"/>
                </a:solidFill>
                <a:latin typeface="Calibri"/>
              </a:rPr>
              <a:t>Live Gradio 8-agent pipeline — drop in any CSV</a:t>
            </a:r>
          </a:p>
        </p:txBody>
      </p:sp>
      <p:sp>
        <p:nvSpPr>
          <p:cNvPr id="14" name="Rectangle 13"/>
          <p:cNvSpPr/>
          <p:nvPr/>
        </p:nvSpPr>
        <p:spPr>
          <a:xfrm>
            <a:off x="457200" y="4206240"/>
            <a:ext cx="10972800" cy="86868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06240"/>
            <a:ext cx="73152" cy="868680"/>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297679"/>
            <a:ext cx="5029200" cy="411480"/>
          </a:xfrm>
          <a:prstGeom prst="rect">
            <a:avLst/>
          </a:prstGeom>
          <a:noFill/>
        </p:spPr>
        <p:txBody>
          <a:bodyPr wrap="square">
            <a:spAutoFit/>
          </a:bodyPr>
          <a:lstStyle/>
          <a:p>
            <a:pPr algn="l"/>
            <a:r>
              <a:rPr sz="1700" b="1" i="0">
                <a:solidFill>
                  <a:srgbClr val="FFFFFF"/>
                </a:solidFill>
                <a:latin typeface="Calibri"/>
              </a:rPr>
              <a:t>API: backend-seven-topaz-23.vercel.app</a:t>
            </a:r>
          </a:p>
        </p:txBody>
      </p:sp>
      <p:sp>
        <p:nvSpPr>
          <p:cNvPr id="17" name="TextBox 16"/>
          <p:cNvSpPr txBox="1"/>
          <p:nvPr/>
        </p:nvSpPr>
        <p:spPr>
          <a:xfrm>
            <a:off x="685800" y="4681727"/>
            <a:ext cx="10515600" cy="347472"/>
          </a:xfrm>
          <a:prstGeom prst="rect">
            <a:avLst/>
          </a:prstGeom>
          <a:noFill/>
        </p:spPr>
        <p:txBody>
          <a:bodyPr wrap="square">
            <a:spAutoFit/>
          </a:bodyPr>
          <a:lstStyle/>
          <a:p>
            <a:pPr algn="l"/>
            <a:r>
              <a:rPr sz="1500" b="0" i="0">
                <a:solidFill>
                  <a:srgbClr val="B8D4E8"/>
                </a:solidFill>
                <a:latin typeface="Calibri"/>
              </a:rPr>
              <a:t>Always-on FastAPI backend · /health → 200 right now</a:t>
            </a:r>
          </a:p>
        </p:txBody>
      </p:sp>
      <p:sp>
        <p:nvSpPr>
          <p:cNvPr id="18" name="Rectangle 17"/>
          <p:cNvSpPr/>
          <p:nvPr/>
        </p:nvSpPr>
        <p:spPr>
          <a:xfrm>
            <a:off x="457200" y="5257800"/>
            <a:ext cx="10972800" cy="86868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5257800"/>
            <a:ext cx="73152" cy="868680"/>
          </a:xfrm>
          <a:prstGeom prst="rect">
            <a:avLst/>
          </a:prstGeom>
          <a:solidFill>
            <a:srgbClr val="48C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349240"/>
            <a:ext cx="5029200" cy="411480"/>
          </a:xfrm>
          <a:prstGeom prst="rect">
            <a:avLst/>
          </a:prstGeom>
          <a:noFill/>
        </p:spPr>
        <p:txBody>
          <a:bodyPr wrap="square">
            <a:spAutoFit/>
          </a:bodyPr>
          <a:lstStyle/>
          <a:p>
            <a:pPr algn="l"/>
            <a:r>
              <a:rPr sz="1700" b="1" i="0">
                <a:solidFill>
                  <a:srgbClr val="FFFFFF"/>
                </a:solidFill>
                <a:latin typeface="Calibri"/>
              </a:rPr>
              <a:t>Android tracker scaffolded</a:t>
            </a:r>
          </a:p>
        </p:txBody>
      </p:sp>
      <p:sp>
        <p:nvSpPr>
          <p:cNvPr id="21" name="TextBox 20"/>
          <p:cNvSpPr txBox="1"/>
          <p:nvPr/>
        </p:nvSpPr>
        <p:spPr>
          <a:xfrm>
            <a:off x="685800" y="5733288"/>
            <a:ext cx="10515600" cy="347472"/>
          </a:xfrm>
          <a:prstGeom prst="rect">
            <a:avLst/>
          </a:prstGeom>
          <a:noFill/>
        </p:spPr>
        <p:txBody>
          <a:bodyPr wrap="square">
            <a:spAutoFit/>
          </a:bodyPr>
          <a:lstStyle/>
          <a:p>
            <a:pPr algn="l"/>
            <a:r>
              <a:rPr sz="1500" b="0" i="0">
                <a:solidFill>
                  <a:srgbClr val="B8D4E8"/>
                </a:solidFill>
                <a:latin typeface="Calibri"/>
              </a:rPr>
              <a:t>Background steps + GPS · pairs via hashed device token · PWA available today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0" y="0"/>
            <a:ext cx="6245352" cy="685800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0" y="0"/>
            <a:ext cx="54864"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822960"/>
          </a:xfrm>
          <a:prstGeom prst="rect">
            <a:avLst/>
          </a:prstGeom>
          <a:noFill/>
        </p:spPr>
        <p:txBody>
          <a:bodyPr wrap="square">
            <a:spAutoFit/>
          </a:bodyPr>
          <a:lstStyle/>
          <a:p>
            <a:pPr algn="l"/>
            <a:r>
              <a:rPr sz="4200" b="1" i="0">
                <a:solidFill>
                  <a:srgbClr val="FFFFFF"/>
                </a:solidFill>
                <a:latin typeface="Calibri"/>
              </a:rPr>
              <a:t>FITNESS AI AGENTS</a:t>
            </a:r>
          </a:p>
        </p:txBody>
      </p:sp>
      <p:sp>
        <p:nvSpPr>
          <p:cNvPr id="6" name="Rectangle 5"/>
          <p:cNvSpPr/>
          <p:nvPr/>
        </p:nvSpPr>
        <p:spPr>
          <a:xfrm>
            <a:off x="457200" y="2240280"/>
            <a:ext cx="1645920"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23160"/>
            <a:ext cx="5303520" cy="1097280"/>
          </a:xfrm>
          <a:prstGeom prst="rect">
            <a:avLst/>
          </a:prstGeom>
          <a:noFill/>
        </p:spPr>
        <p:txBody>
          <a:bodyPr wrap="square">
            <a:spAutoFit/>
          </a:bodyPr>
          <a:lstStyle/>
          <a:p>
            <a:pPr algn="l"/>
            <a:r>
              <a:rPr sz="2200" b="0" i="0">
                <a:solidFill>
                  <a:srgbClr val="48CAE4"/>
                </a:solidFill>
                <a:latin typeface="Calibri"/>
              </a:rPr>
              <a:t>Any data. Any device.
AI that trains you smarter.</a:t>
            </a:r>
          </a:p>
        </p:txBody>
      </p:sp>
      <p:sp>
        <p:nvSpPr>
          <p:cNvPr id="8" name="TextBox 7"/>
          <p:cNvSpPr txBox="1"/>
          <p:nvPr/>
        </p:nvSpPr>
        <p:spPr>
          <a:xfrm>
            <a:off x="457200" y="5303520"/>
            <a:ext cx="5303520" cy="640080"/>
          </a:xfrm>
          <a:prstGeom prst="rect">
            <a:avLst/>
          </a:prstGeom>
          <a:noFill/>
        </p:spPr>
        <p:txBody>
          <a:bodyPr wrap="square">
            <a:spAutoFit/>
          </a:bodyPr>
          <a:lstStyle/>
          <a:p>
            <a:pPr algn="l"/>
            <a:r>
              <a:rPr sz="3000" b="1" i="0">
                <a:solidFill>
                  <a:srgbClr val="FFFFFF"/>
                </a:solidFill>
                <a:latin typeface="Calibri"/>
              </a:rPr>
              <a:t>Thank you.</a:t>
            </a:r>
          </a:p>
        </p:txBody>
      </p:sp>
      <p:sp>
        <p:nvSpPr>
          <p:cNvPr id="9" name="TextBox 8"/>
          <p:cNvSpPr txBox="1"/>
          <p:nvPr/>
        </p:nvSpPr>
        <p:spPr>
          <a:xfrm>
            <a:off x="6217920" y="1371600"/>
            <a:ext cx="5669280" cy="502920"/>
          </a:xfrm>
          <a:prstGeom prst="rect">
            <a:avLst/>
          </a:prstGeom>
          <a:noFill/>
        </p:spPr>
        <p:txBody>
          <a:bodyPr wrap="square">
            <a:spAutoFit/>
          </a:bodyPr>
          <a:lstStyle/>
          <a:p>
            <a:pPr algn="l"/>
            <a:r>
              <a:rPr sz="1400" b="1" i="0">
                <a:solidFill>
                  <a:srgbClr val="00B4D8"/>
                </a:solidFill>
                <a:latin typeface="Calibri"/>
              </a:rPr>
              <a:t>TRY IT NOW</a:t>
            </a:r>
          </a:p>
        </p:txBody>
      </p:sp>
      <p:sp>
        <p:nvSpPr>
          <p:cNvPr id="10" name="TextBox 9"/>
          <p:cNvSpPr txBox="1"/>
          <p:nvPr/>
        </p:nvSpPr>
        <p:spPr>
          <a:xfrm>
            <a:off x="6217920" y="1920240"/>
            <a:ext cx="5669280" cy="594360"/>
          </a:xfrm>
          <a:prstGeom prst="rect">
            <a:avLst/>
          </a:prstGeom>
          <a:noFill/>
        </p:spPr>
        <p:txBody>
          <a:bodyPr wrap="square">
            <a:spAutoFit/>
          </a:bodyPr>
          <a:lstStyle/>
          <a:p>
            <a:pPr algn="l"/>
            <a:r>
              <a:rPr sz="2200" b="1" i="0">
                <a:solidFill>
                  <a:srgbClr val="FFFFFF"/>
                </a:solidFill>
                <a:latin typeface="Calibri"/>
              </a:rPr>
              <a:t>fitness-ai-agents.vercel.app</a:t>
            </a:r>
          </a:p>
        </p:txBody>
      </p:sp>
      <p:sp>
        <p:nvSpPr>
          <p:cNvPr id="11" name="TextBox 10"/>
          <p:cNvSpPr txBox="1"/>
          <p:nvPr/>
        </p:nvSpPr>
        <p:spPr>
          <a:xfrm>
            <a:off x="6217920" y="2926080"/>
            <a:ext cx="5669280" cy="502920"/>
          </a:xfrm>
          <a:prstGeom prst="rect">
            <a:avLst/>
          </a:prstGeom>
          <a:noFill/>
        </p:spPr>
        <p:txBody>
          <a:bodyPr wrap="square">
            <a:spAutoFit/>
          </a:bodyPr>
          <a:lstStyle/>
          <a:p>
            <a:pPr algn="l"/>
            <a:r>
              <a:rPr sz="1400" b="1" i="0">
                <a:solidFill>
                  <a:srgbClr val="00B4D8"/>
                </a:solidFill>
                <a:latin typeface="Calibri"/>
              </a:rPr>
              <a:t>GRADIO DEMO</a:t>
            </a:r>
          </a:p>
        </p:txBody>
      </p:sp>
      <p:sp>
        <p:nvSpPr>
          <p:cNvPr id="12" name="TextBox 11"/>
          <p:cNvSpPr txBox="1"/>
          <p:nvPr/>
        </p:nvSpPr>
        <p:spPr>
          <a:xfrm>
            <a:off x="6217920" y="3429000"/>
            <a:ext cx="5669280" cy="822960"/>
          </a:xfrm>
          <a:prstGeom prst="rect">
            <a:avLst/>
          </a:prstGeom>
          <a:noFill/>
        </p:spPr>
        <p:txBody>
          <a:bodyPr wrap="square">
            <a:spAutoFit/>
          </a:bodyPr>
          <a:lstStyle/>
          <a:p>
            <a:pPr algn="l"/>
            <a:r>
              <a:rPr sz="1800" b="0" i="0">
                <a:solidFill>
                  <a:srgbClr val="B8D4E8"/>
                </a:solidFill>
                <a:latin typeface="Calibri"/>
              </a:rPr>
              <a:t>pymite6941-fitness-ai-
agents-demo.hf.space</a:t>
            </a:r>
          </a:p>
        </p:txBody>
      </p:sp>
      <p:sp>
        <p:nvSpPr>
          <p:cNvPr id="13" name="TextBox 12"/>
          <p:cNvSpPr txBox="1"/>
          <p:nvPr/>
        </p:nvSpPr>
        <p:spPr>
          <a:xfrm>
            <a:off x="6217920" y="4572000"/>
            <a:ext cx="5669280" cy="411480"/>
          </a:xfrm>
          <a:prstGeom prst="rect">
            <a:avLst/>
          </a:prstGeom>
          <a:noFill/>
        </p:spPr>
        <p:txBody>
          <a:bodyPr wrap="square">
            <a:spAutoFit/>
          </a:bodyPr>
          <a:lstStyle/>
          <a:p>
            <a:pPr algn="l"/>
            <a:r>
              <a:rPr sz="1400" b="1" i="0">
                <a:solidFill>
                  <a:srgbClr val="00B4D8"/>
                </a:solidFill>
                <a:latin typeface="Calibri"/>
              </a:rPr>
              <a:t>API (always-on)</a:t>
            </a:r>
          </a:p>
        </p:txBody>
      </p:sp>
      <p:sp>
        <p:nvSpPr>
          <p:cNvPr id="14" name="TextBox 13"/>
          <p:cNvSpPr txBox="1"/>
          <p:nvPr/>
        </p:nvSpPr>
        <p:spPr>
          <a:xfrm>
            <a:off x="6217920" y="4983480"/>
            <a:ext cx="5669280" cy="502920"/>
          </a:xfrm>
          <a:prstGeom prst="rect">
            <a:avLst/>
          </a:prstGeom>
          <a:noFill/>
        </p:spPr>
        <p:txBody>
          <a:bodyPr wrap="square">
            <a:spAutoFit/>
          </a:bodyPr>
          <a:lstStyle/>
          <a:p>
            <a:pPr algn="l"/>
            <a:r>
              <a:rPr sz="1600" b="0" i="0">
                <a:solidFill>
                  <a:srgbClr val="B8D4E8"/>
                </a:solidFill>
                <a:latin typeface="Calibri"/>
              </a:rPr>
              <a:t>backend-seven-topaz-23.vercel.app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