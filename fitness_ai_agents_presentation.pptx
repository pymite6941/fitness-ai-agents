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TITLE  [~30 seconds]</a:t>
            </a:r>
          </a:p>
          <a:p/>
          <a:p>
            <a:r>
              <a:t>Say exactly this to open:</a:t>
            </a:r>
          </a:p>
          <a:p/>
          <a:p>
            <a:r>
              <a:t>"This is Fitness AI Agents — a platform I built to solve one problem: you're already generating a huge amount of health data every day, but almost none of it is actually being used to help you train smarter.</a:t>
            </a:r>
          </a:p>
          <a:p/>
          <a:p>
            <a:r>
              <a:t>I'll walk you through why this matters, what I built, how it works, and why it's genuinely different. We're at about seven and a half minutes total."</a:t>
            </a:r>
          </a:p>
          <a:p/>
          <a:p>
            <a:r>
              <a:t>Then advance.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THE PROBLEM  [~60 seconds]</a:t>
            </a:r>
          </a:p>
          <a:p/>
          <a:p>
            <a:r>
              <a:t>This slide addresses the IMPACT criterion — judges need to see that you're solving a real, big problem.</a:t>
            </a:r>
          </a:p>
          <a:p/>
          <a:p>
            <a:r>
              <a:t>"Let's start with the problem.</a:t>
            </a:r>
          </a:p>
          <a:p/>
          <a:p>
            <a:r>
              <a:t>There are over a billion people walking around with wearables — smartwatches, Fitbits, Garmins, phones in their pockets. They're generating heart rate, sleep, GPS, step data every single day.</a:t>
            </a:r>
          </a:p>
          <a:p/>
          <a:p>
            <a:r>
              <a:t>But that data is completely fragmented. Your Apple Watch knows your sleep. Strava knows your runs. Your Garmin knows your heart rate zones. None of them know about each other.</a:t>
            </a:r>
          </a:p>
          <a:p/>
          <a:p>
            <a:r>
              <a:t>Even when you CAN see your data, you can't interpret it. What does a resting heart rate of 58 mean? Is that good? Is it trending the wrong way? Does it matter that you slept 6 hours last night? You don't know — and the apps won't tell you.</a:t>
            </a:r>
          </a:p>
          <a:p/>
          <a:p>
            <a:r>
              <a:t>The people who actually know the answers — sports scientists, personal coaches — charge $150 to $300 a month. That puts real training intelligence completely out of reach for most people.</a:t>
            </a:r>
          </a:p>
          <a:p/>
          <a:p>
            <a:r>
              <a:t>Billions of data points. Almost none of it acted on."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THE SOLUTION  [~50 seconds]</a:t>
            </a:r>
          </a:p>
          <a:p/>
          <a:p>
            <a:r>
              <a:t>This answers the PRESENTATION criterion — "what challenge it addresses and how it delivers a solution."</a:t>
            </a:r>
          </a:p>
          <a:p/>
          <a:p>
            <a:r>
              <a:t>"The solution is three steps.</a:t>
            </a:r>
          </a:p>
          <a:p/>
          <a:p>
            <a:r>
              <a:t>First: Connect. You bring your data from wherever it lives — Strava or Fitbit sync over OAuth, Apple Health and Garmin export as files, you can drop in any .fit, .tcx, or .gpx from any device — COROS, Wahoo, Polar, Suunto, Peloton, Zwift. Or just log manually. Thirteen sources supported at launch. Zero new hardware required.</a:t>
            </a:r>
          </a:p>
          <a:p/>
          <a:p>
            <a:r>
              <a:t>Second: Analyze. The data goes through an 8-agent AI pipeline — I'll show you the architecture in a moment. It reasons like a domain expert: data cleaning, trend detection, exercise physiology interpretation, and a final QA pass for accuracy.</a:t>
            </a:r>
          </a:p>
          <a:p/>
          <a:p>
            <a:r>
              <a:t>Third: Act. You get a personalized weekly training plan, a daily readiness score, proactive alerts when something looks wrong, and a chat interface where you can ask anything in plain English and get an answer grounded in YOUR actual data.</a:t>
            </a:r>
          </a:p>
          <a:p/>
          <a:p>
            <a:r>
              <a:t>That's the full loop — from raw sensor data to a decision you can act on today." </a:t>
            </a:r>
          </a:p>
          <a:p>
            <a:r>
              <a:t>[ADD — phone as a tracker] "And if you do not have a watch at all, that is fine too. There are native Android and iOS apps you can install straight from the site that turn your phone itself into the tracker. No app store needed."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CREATIVITY  [~75 seconds]</a:t>
            </a:r>
          </a:p>
          <a:p/>
          <a:p>
            <a:r>
              <a:t>This is your direct answer to the CREATIVITY criterion. Be confident here.</a:t>
            </a:r>
          </a:p>
          <a:p/>
          <a:p>
            <a:r>
              <a:t>"Let me be specific about what's new here, because I want the judges to see that this isn't a thin wrapper on an API.</a:t>
            </a:r>
          </a:p>
          <a:p/>
          <a:p>
            <a:r>
              <a:t>First — the multi-agent pipeline. I didn't just call GPT and ask it to analyze my health data. I built a crew of eight specialized agents, each with a defined job. The Data Cleaner knows that heart rate values below 30 or above 250 bpm are invalid. The Sports Scientist knows what an acute-to-chronic training load ratio means. The QA Critic scores every output on domain accuracy and flags physiological errors. The pipeline runs sequentially, each agent passing context to the next.</a:t>
            </a:r>
          </a:p>
          <a:p/>
          <a:p>
            <a:r>
              <a:t>Second — the Readiness Score. Whoop charges $30 a month. Oura charges $18 a month. Both of them sell a 'recovery score' that tells you if you're ready to train. I built the same thing — HRV trend, resting HR baseline, sleep quality, training load ratio — deterministically, using sports science formulas, at zero cost, from any data source.</a:t>
            </a:r>
          </a:p>
          <a:p/>
          <a:p>
            <a:r>
              <a:t>Third — universal import. Every major platform locks you in. This platform doesn't care what you use. Drop in a .gpx from Wahoo or a .fit from COROS — it parses it, tags the source, and the AI is aware of which device produced which data.</a:t>
            </a:r>
          </a:p>
          <a:p/>
          <a:p>
            <a:r>
              <a:t>Fourth — the architecture is split intelligently. The heavy 8-agent pipeline runs in a HuggingFace Space so it has the compute it needs. The lighter features — Coach, Chat, Readiness — run on an always-on free Vercel backend via a custom multi-model failover router I wrote, with a per-user rate limit so one account can't drain the shared model pool."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FIVE FEATURES  [~75 seconds]</a:t>
            </a:r>
          </a:p>
          <a:p/>
          <a:p>
            <a:r>
              <a:t>This answers the PRESENTATION criterion — "how it delivers a solution." Walk through each feature concretely.</a:t>
            </a:r>
          </a:p>
          <a:p/>
          <a:p>
            <a:r>
              <a:t>"Here are the five things the platform can do.</a:t>
            </a:r>
          </a:p>
          <a:p/>
          <a:p>
            <a:r>
              <a:t>AI Analysis. You hit Analyze, and the 8-agent pipeline processes your data. You get structured outputs — metric cards showing your weekly averages, line charts of HR trends over time, a comparison of your Strava runs versus Garmin workouts, a heatmap of which days and times your training load is highest. Every result is scored out of 10 by the QA agent for physiological accuracy.</a:t>
            </a:r>
          </a:p>
          <a:p/>
          <a:p>
            <a:r>
              <a:t>AI Coach. You tell it your goal — say, 'run a 5K in under 25 minutes in 8 weeks.' It generates a week-by-week training plan. As your real workouts come in, the plan updates. Overtrain one week, it backs off the next. Miss a session, it rebalances.</a:t>
            </a:r>
          </a:p>
          <a:p/>
          <a:p>
            <a:r>
              <a:t>Readiness Score. Every morning you get a score out of 100. It's calculated from four things: your HRV trend over the last 7 days, your resting HR versus baseline, last night's sleep, and your acute-to-chronic training load ratio. This is the exact same science Oura and Whoop sell subscriptions for.</a:t>
            </a:r>
          </a:p>
          <a:p/>
          <a:p>
            <a:r>
              <a:t>Health Watchdog. No AI calls at all — pure deterministic logic. If your resting heart rate has been climbing for 5 straight days, or your HRV dropped more than 10% this week, you get a proactive alert. You don't have to ask. It tells you.</a:t>
            </a:r>
          </a:p>
          <a:p/>
          <a:p>
            <a:r>
              <a:t>Chat. Ask 'how has my sleep been affecting my runs?' or 'should I take a rest day tomorrow?' in plain English. The answer is grounded in a server-built summary of your actual data — not generated from scratch — so it can't hallucinate."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ARCHITECTURE  [~60 seconds]</a:t>
            </a:r>
          </a:p>
          <a:p/>
          <a:p>
            <a:r>
              <a:t>This shows technical depth — relevant to both CREATIVITY and PRESENTATION.</a:t>
            </a:r>
          </a:p>
          <a:p/>
          <a:p>
            <a:r>
              <a:t>"Let me show you how the pipeline actually works.</a:t>
            </a:r>
          </a:p>
          <a:p/>
          <a:p>
            <a:r>
              <a:t>Eight agents run in sequence. Agent 1, the Context Agent, reads your question and identifies which metrics and data sources are relevant. Agent 2, the Data Cleaner, validates every row — it knows that a heart rate below 30 or above 250 is invalid, that steps over 100,000 a day is noise. Agent 3 writes the analysis plan. Agent 4, the Data Analyst, executes it — computing weekly trends, HR zone distributions, multi-source comparisons. Agent 5 is the Sports Scientist — it interprets findings through exercise physiology, calculates your training load using TRIMP, assesses overtraining risk. Agent 6 detects time-based patterns — plateau, progressive overload, fatigue accumulation curves. Agent 7 formats everything into structured JSON. Agent 8, the QA Critic, scores the whole output on domain accuracy, specificity, and evidence quality.</a:t>
            </a:r>
          </a:p>
          <a:p/>
          <a:p>
            <a:r>
              <a:t>For the stack: the frontend is React 19 on Vercel. The backend is FastAPI, also on Vercel — it's always-on, free tier, no cold starts. Database is Supabase Postgres with row-level security turned on for every table — the anonymous key returns zero rows, period. The heavy pipeline runs in a HuggingFace Space. The lighter AI features use a custom failover router I wrote that cycles across free Groq and OpenRouter models and enforces a 200-call-per-user-per-day limit."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IMPACT  [~60 seconds]</a:t>
            </a:r>
          </a:p>
          <a:p/>
          <a:p>
            <a:r>
              <a:t>This is your direct answer to the IMPACT judging criterion. Make it land.</a:t>
            </a:r>
          </a:p>
          <a:p/>
          <a:p>
            <a:r>
              <a:t>"So — how big is the impact?</a:t>
            </a:r>
          </a:p>
          <a:p/>
          <a:p>
            <a:r>
              <a:t>One billion people own wearables. The vast majority of them are walking around with a goldmine of health data that is doing absolutely nothing for them. This platform is designed for exactly that person.</a:t>
            </a:r>
          </a:p>
          <a:p/>
          <a:p>
            <a:r>
              <a:t>The cost: zero. Whoop is $30 a month. Oura is $18 a month. A personal trainer is $150 to $300 a month. This platform delivers a Readiness Score, a coach, health alerts, trend analysis, and a conversational interface — all for free. The only cost is the server, and it runs on Vercel and HuggingFace's free tiers.</a:t>
            </a:r>
          </a:p>
          <a:p/>
          <a:p>
            <a:r>
              <a:t>Thirteen-plus import sources means almost no one is excluded. If you've ever used a fitness app or worn a tracker in the last five years, you can import your data today.</a:t>
            </a:r>
          </a:p>
          <a:p/>
          <a:p>
            <a:r>
              <a:t>And this is not a prototype — it's live, right now. You can go to fitness-ai-agents.vercel.app, click 'Load Sample Data', and see the full dashboard with charts, heatmaps, AI analysis results, and a readiness score populated in about 90 seconds." </a:t>
            </a:r>
          </a:p>
          <a:p>
            <a:r>
              <a:t>[ADD] "And the reach is not just the web app. The native Android and iOS apps build automatically in the cloud and publish straight to the site, so anyone can download and install them for free."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CLOSING  [~30 seconds]</a:t>
            </a:r>
          </a:p>
          <a:p/>
          <a:p>
            <a:r>
              <a:t>End clean and confident.</a:t>
            </a:r>
          </a:p>
          <a:p/>
          <a:p>
            <a:r>
              <a:t>"To wrap up — Fitness AI Agents takes the data you're already generating, breaks it out of its silos, and puts a team of AI sports scientists in your pocket. For free. No new hardware. Works with what you already have.</a:t>
            </a:r>
          </a:p>
          <a:p/>
          <a:p>
            <a:r>
              <a:t>It is live right now. You can try it in the next five minutes.</a:t>
            </a:r>
          </a:p>
          <a:p/>
          <a:p>
            <a:r>
              <a:t>I'm happy to answer questions about the architecture, the agent pipeline, the security model, or anything else."</a:t>
            </a:r>
          </a:p>
          <a:p/>
          <a:p>
            <a:r>
              <a:t>Then stop. Let them ask.</a:t>
            </a:r>
          </a:p>
          <a:p>
            <a:r>
              <a:t>[ADD before final line] "It runs in any browser, installs as an app on any phone or desktop, and has downloadable native Android and iOS builds."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0" y="0"/>
            <a:ext cx="5056632" cy="685800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32320" y="0"/>
            <a:ext cx="5029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371600"/>
            <a:ext cx="6400800" cy="1371600"/>
          </a:xfrm>
          <a:prstGeom prst="rect">
            <a:avLst/>
          </a:prstGeom>
          <a:noFill/>
        </p:spPr>
        <p:txBody>
          <a:bodyPr wrap="square">
            <a:spAutoFit/>
          </a:bodyPr>
          <a:lstStyle/>
          <a:p>
            <a:pPr algn="l"/>
            <a:r>
              <a:rPr sz="5600" b="1" i="0">
                <a:solidFill>
                  <a:srgbClr val="FFFFFF"/>
                </a:solidFill>
                <a:latin typeface="Calibri"/>
              </a:rPr>
              <a:t>FITNESS AI AGENTS</a:t>
            </a:r>
          </a:p>
        </p:txBody>
      </p:sp>
      <p:sp>
        <p:nvSpPr>
          <p:cNvPr id="6" name="Rectangle 5"/>
          <p:cNvSpPr/>
          <p:nvPr/>
        </p:nvSpPr>
        <p:spPr>
          <a:xfrm>
            <a:off x="411480" y="2926080"/>
            <a:ext cx="2743200" cy="5029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3063240"/>
            <a:ext cx="6400800" cy="1097280"/>
          </a:xfrm>
          <a:prstGeom prst="rect">
            <a:avLst/>
          </a:prstGeom>
          <a:noFill/>
        </p:spPr>
        <p:txBody>
          <a:bodyPr wrap="square">
            <a:spAutoFit/>
          </a:bodyPr>
          <a:lstStyle/>
          <a:p>
            <a:pPr algn="l"/>
            <a:r>
              <a:rPr sz="2200" b="0" i="0">
                <a:solidFill>
                  <a:srgbClr val="48CAE4"/>
                </a:solidFill>
                <a:latin typeface="Calibri"/>
              </a:rPr>
              <a:t>Your health data. Any device.
AI-powered sports-science insights.</a:t>
            </a:r>
          </a:p>
        </p:txBody>
      </p:sp>
      <p:sp>
        <p:nvSpPr>
          <p:cNvPr id="8" name="TextBox 7"/>
          <p:cNvSpPr txBox="1"/>
          <p:nvPr/>
        </p:nvSpPr>
        <p:spPr>
          <a:xfrm>
            <a:off x="411480" y="6035040"/>
            <a:ext cx="4572000" cy="457200"/>
          </a:xfrm>
          <a:prstGeom prst="rect">
            <a:avLst/>
          </a:prstGeom>
          <a:noFill/>
        </p:spPr>
        <p:txBody>
          <a:bodyPr wrap="square">
            <a:spAutoFit/>
          </a:bodyPr>
          <a:lstStyle/>
          <a:p>
            <a:pPr algn="l"/>
            <a:r>
              <a:rPr sz="1500" b="0" i="0">
                <a:solidFill>
                  <a:srgbClr val="557A9A"/>
                </a:solidFill>
                <a:latin typeface="Calibri"/>
              </a:rPr>
              <a:t>2026 Hack America Hackathon</a:t>
            </a:r>
          </a:p>
        </p:txBody>
      </p:sp>
      <p:sp>
        <p:nvSpPr>
          <p:cNvPr id="9" name="Rectangle 8"/>
          <p:cNvSpPr/>
          <p:nvPr/>
        </p:nvSpPr>
        <p:spPr>
          <a:xfrm>
            <a:off x="7406640" y="1188720"/>
            <a:ext cx="4480560" cy="1325880"/>
          </a:xfrm>
          <a:prstGeom prst="rect">
            <a:avLst/>
          </a:prstGeom>
          <a:solidFill>
            <a:srgbClr val="0A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188720"/>
            <a:ext cx="4480560" cy="5943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325880"/>
            <a:ext cx="4114800" cy="502920"/>
          </a:xfrm>
          <a:prstGeom prst="rect">
            <a:avLst/>
          </a:prstGeom>
          <a:noFill/>
        </p:spPr>
        <p:txBody>
          <a:bodyPr wrap="square">
            <a:spAutoFit/>
          </a:bodyPr>
          <a:lstStyle/>
          <a:p>
            <a:pPr algn="l"/>
            <a:r>
              <a:rPr sz="2000" b="1" i="0">
                <a:solidFill>
                  <a:srgbClr val="FFFFFF"/>
                </a:solidFill>
                <a:latin typeface="Calibri"/>
              </a:rPr>
              <a:t>8-Agent AI Pipeline</a:t>
            </a:r>
          </a:p>
        </p:txBody>
      </p:sp>
      <p:sp>
        <p:nvSpPr>
          <p:cNvPr id="12" name="TextBox 11"/>
          <p:cNvSpPr txBox="1"/>
          <p:nvPr/>
        </p:nvSpPr>
        <p:spPr>
          <a:xfrm>
            <a:off x="7589520" y="1810512"/>
            <a:ext cx="4114800" cy="502920"/>
          </a:xfrm>
          <a:prstGeom prst="rect">
            <a:avLst/>
          </a:prstGeom>
          <a:noFill/>
        </p:spPr>
        <p:txBody>
          <a:bodyPr wrap="square">
            <a:spAutoFit/>
          </a:bodyPr>
          <a:lstStyle/>
          <a:p>
            <a:pPr algn="l"/>
            <a:r>
              <a:rPr sz="1600" b="0" i="0">
                <a:solidFill>
                  <a:srgbClr val="B0CEE6"/>
                </a:solidFill>
                <a:latin typeface="Calibri"/>
              </a:rPr>
              <a:t>Purpose-built multi-agent crew</a:t>
            </a:r>
          </a:p>
        </p:txBody>
      </p:sp>
      <p:sp>
        <p:nvSpPr>
          <p:cNvPr id="13" name="Rectangle 12"/>
          <p:cNvSpPr/>
          <p:nvPr/>
        </p:nvSpPr>
        <p:spPr>
          <a:xfrm>
            <a:off x="7406640" y="2834640"/>
            <a:ext cx="4480560" cy="1325880"/>
          </a:xfrm>
          <a:prstGeom prst="rect">
            <a:avLst/>
          </a:prstGeom>
          <a:solidFill>
            <a:srgbClr val="0A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06640" y="2834640"/>
            <a:ext cx="4480560" cy="5943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2971800"/>
            <a:ext cx="4114800" cy="502920"/>
          </a:xfrm>
          <a:prstGeom prst="rect">
            <a:avLst/>
          </a:prstGeom>
          <a:noFill/>
        </p:spPr>
        <p:txBody>
          <a:bodyPr wrap="square">
            <a:spAutoFit/>
          </a:bodyPr>
          <a:lstStyle/>
          <a:p>
            <a:pPr algn="l"/>
            <a:r>
              <a:rPr sz="2000" b="1" i="0">
                <a:solidFill>
                  <a:srgbClr val="FFFFFF"/>
                </a:solidFill>
                <a:latin typeface="Calibri"/>
              </a:rPr>
              <a:t>13+ Import Sources</a:t>
            </a:r>
          </a:p>
        </p:txBody>
      </p:sp>
      <p:sp>
        <p:nvSpPr>
          <p:cNvPr id="16" name="TextBox 15"/>
          <p:cNvSpPr txBox="1"/>
          <p:nvPr/>
        </p:nvSpPr>
        <p:spPr>
          <a:xfrm>
            <a:off x="7589520" y="3456432"/>
            <a:ext cx="4114800" cy="502920"/>
          </a:xfrm>
          <a:prstGeom prst="rect">
            <a:avLst/>
          </a:prstGeom>
          <a:noFill/>
        </p:spPr>
        <p:txBody>
          <a:bodyPr wrap="square">
            <a:spAutoFit/>
          </a:bodyPr>
          <a:lstStyle/>
          <a:p>
            <a:pPr algn="l"/>
            <a:r>
              <a:rPr sz="1600" b="0" i="0">
                <a:solidFill>
                  <a:srgbClr val="B0CEE6"/>
                </a:solidFill>
                <a:latin typeface="Calibri"/>
              </a:rPr>
              <a:t>No new hardware required</a:t>
            </a:r>
          </a:p>
        </p:txBody>
      </p:sp>
      <p:sp>
        <p:nvSpPr>
          <p:cNvPr id="17" name="Rectangle 16"/>
          <p:cNvSpPr/>
          <p:nvPr/>
        </p:nvSpPr>
        <p:spPr>
          <a:xfrm>
            <a:off x="7406640" y="4480560"/>
            <a:ext cx="4480560" cy="1325880"/>
          </a:xfrm>
          <a:prstGeom prst="rect">
            <a:avLst/>
          </a:prstGeom>
          <a:solidFill>
            <a:srgbClr val="0A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06640" y="4480560"/>
            <a:ext cx="4480560" cy="5943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4617720"/>
            <a:ext cx="4114800" cy="502920"/>
          </a:xfrm>
          <a:prstGeom prst="rect">
            <a:avLst/>
          </a:prstGeom>
          <a:noFill/>
        </p:spPr>
        <p:txBody>
          <a:bodyPr wrap="square">
            <a:spAutoFit/>
          </a:bodyPr>
          <a:lstStyle/>
          <a:p>
            <a:pPr algn="l"/>
            <a:r>
              <a:rPr sz="2000" b="1" i="0">
                <a:solidFill>
                  <a:srgbClr val="FFFFFF"/>
                </a:solidFill>
                <a:latin typeface="Calibri"/>
              </a:rPr>
              <a:t>Live &amp; Free</a:t>
            </a:r>
          </a:p>
        </p:txBody>
      </p:sp>
      <p:sp>
        <p:nvSpPr>
          <p:cNvPr id="20" name="TextBox 19"/>
          <p:cNvSpPr txBox="1"/>
          <p:nvPr/>
        </p:nvSpPr>
        <p:spPr>
          <a:xfrm>
            <a:off x="7589520" y="5102352"/>
            <a:ext cx="4114800" cy="502920"/>
          </a:xfrm>
          <a:prstGeom prst="rect">
            <a:avLst/>
          </a:prstGeom>
          <a:noFill/>
        </p:spPr>
        <p:txBody>
          <a:bodyPr wrap="square">
            <a:spAutoFit/>
          </a:bodyPr>
          <a:lstStyle/>
          <a:p>
            <a:pPr algn="l"/>
            <a:r>
              <a:rPr sz="1600" b="0" i="0">
                <a:solidFill>
                  <a:srgbClr val="B0CEE6"/>
                </a:solidFill>
                <a:latin typeface="Calibri"/>
              </a:rPr>
              <a:t>Deployed now — not a mockup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9144000" cy="411480"/>
          </a:xfrm>
          <a:prstGeom prst="rect">
            <a:avLst/>
          </a:prstGeom>
          <a:noFill/>
        </p:spPr>
        <p:txBody>
          <a:bodyPr wrap="square">
            <a:spAutoFit/>
          </a:bodyPr>
          <a:lstStyle/>
          <a:p>
            <a:pPr algn="l"/>
            <a:r>
              <a:rPr sz="1200" b="1" i="0">
                <a:solidFill>
                  <a:srgbClr val="00B4D8"/>
                </a:solidFill>
                <a:latin typeface="Calibri"/>
              </a:rPr>
              <a:t>THE PROBLEM</a:t>
            </a:r>
          </a:p>
        </p:txBody>
      </p:sp>
      <p:sp>
        <p:nvSpPr>
          <p:cNvPr id="4" name="TextBox 3"/>
          <p:cNvSpPr txBox="1"/>
          <p:nvPr/>
        </p:nvSpPr>
        <p:spPr>
          <a:xfrm>
            <a:off x="411480" y="777240"/>
            <a:ext cx="9601200" cy="914400"/>
          </a:xfrm>
          <a:prstGeom prst="rect">
            <a:avLst/>
          </a:prstGeom>
          <a:noFill/>
        </p:spPr>
        <p:txBody>
          <a:bodyPr wrap="square">
            <a:spAutoFit/>
          </a:bodyPr>
          <a:lstStyle/>
          <a:p>
            <a:pPr algn="l"/>
            <a:r>
              <a:rPr sz="4400" b="1" i="0">
                <a:solidFill>
                  <a:srgbClr val="FFFFFF"/>
                </a:solidFill>
                <a:latin typeface="Calibri"/>
              </a:rPr>
              <a:t>Your data exists. Your insights don't.</a:t>
            </a:r>
          </a:p>
        </p:txBody>
      </p:sp>
      <p:sp>
        <p:nvSpPr>
          <p:cNvPr id="5" name="Rectangle 4"/>
          <p:cNvSpPr/>
          <p:nvPr/>
        </p:nvSpPr>
        <p:spPr>
          <a:xfrm>
            <a:off x="411480" y="1828800"/>
            <a:ext cx="2286000" cy="5029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2057400"/>
            <a:ext cx="11338560" cy="123444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2057400"/>
            <a:ext cx="64008" cy="12344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203704"/>
            <a:ext cx="3200400" cy="502920"/>
          </a:xfrm>
          <a:prstGeom prst="rect">
            <a:avLst/>
          </a:prstGeom>
          <a:noFill/>
        </p:spPr>
        <p:txBody>
          <a:bodyPr wrap="square">
            <a:spAutoFit/>
          </a:bodyPr>
          <a:lstStyle/>
          <a:p>
            <a:pPr algn="l"/>
            <a:r>
              <a:rPr sz="1800" b="1" i="0">
                <a:solidFill>
                  <a:srgbClr val="48CAE4"/>
                </a:solidFill>
                <a:latin typeface="Calibri"/>
              </a:rPr>
              <a:t>Data is siloed</a:t>
            </a:r>
          </a:p>
        </p:txBody>
      </p:sp>
      <p:sp>
        <p:nvSpPr>
          <p:cNvPr id="9" name="TextBox 8"/>
          <p:cNvSpPr txBox="1"/>
          <p:nvPr/>
        </p:nvSpPr>
        <p:spPr>
          <a:xfrm>
            <a:off x="3657600" y="2221992"/>
            <a:ext cx="7863840" cy="475488"/>
          </a:xfrm>
          <a:prstGeom prst="rect">
            <a:avLst/>
          </a:prstGeom>
          <a:noFill/>
        </p:spPr>
        <p:txBody>
          <a:bodyPr wrap="square">
            <a:spAutoFit/>
          </a:bodyPr>
          <a:lstStyle/>
          <a:p>
            <a:pPr algn="l"/>
            <a:r>
              <a:rPr sz="1700" b="0" i="0">
                <a:solidFill>
                  <a:srgbClr val="B0CEE6"/>
                </a:solidFill>
                <a:latin typeface="Calibri"/>
              </a:rPr>
              <a:t>Apple Watch, Strava, Garmin — each knows a slice of you, none talks to the others</a:t>
            </a:r>
          </a:p>
        </p:txBody>
      </p:sp>
      <p:sp>
        <p:nvSpPr>
          <p:cNvPr id="10" name="Rectangle 9"/>
          <p:cNvSpPr/>
          <p:nvPr/>
        </p:nvSpPr>
        <p:spPr>
          <a:xfrm>
            <a:off x="411480" y="3383280"/>
            <a:ext cx="11338560" cy="123444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3383280"/>
            <a:ext cx="64008" cy="12344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529584"/>
            <a:ext cx="3200400" cy="502920"/>
          </a:xfrm>
          <a:prstGeom prst="rect">
            <a:avLst/>
          </a:prstGeom>
          <a:noFill/>
        </p:spPr>
        <p:txBody>
          <a:bodyPr wrap="square">
            <a:spAutoFit/>
          </a:bodyPr>
          <a:lstStyle/>
          <a:p>
            <a:pPr algn="l"/>
            <a:r>
              <a:rPr sz="1800" b="1" i="0">
                <a:solidFill>
                  <a:srgbClr val="48CAE4"/>
                </a:solidFill>
                <a:latin typeface="Calibri"/>
              </a:rPr>
              <a:t>Numbers without context are useless</a:t>
            </a:r>
          </a:p>
        </p:txBody>
      </p:sp>
      <p:sp>
        <p:nvSpPr>
          <p:cNvPr id="13" name="TextBox 12"/>
          <p:cNvSpPr txBox="1"/>
          <p:nvPr/>
        </p:nvSpPr>
        <p:spPr>
          <a:xfrm>
            <a:off x="3657600" y="3547872"/>
            <a:ext cx="7863840" cy="475488"/>
          </a:xfrm>
          <a:prstGeom prst="rect">
            <a:avLst/>
          </a:prstGeom>
          <a:noFill/>
        </p:spPr>
        <p:txBody>
          <a:bodyPr wrap="square">
            <a:spAutoFit/>
          </a:bodyPr>
          <a:lstStyle/>
          <a:p>
            <a:pPr algn="l"/>
            <a:r>
              <a:rPr sz="1700" b="0" i="0">
                <a:solidFill>
                  <a:srgbClr val="B0CEE6"/>
                </a:solidFill>
                <a:latin typeface="Calibri"/>
              </a:rPr>
              <a:t>A resting HR of 58 bpm means nothing without knowing your baseline, last workout, and sleep</a:t>
            </a:r>
          </a:p>
        </p:txBody>
      </p:sp>
      <p:sp>
        <p:nvSpPr>
          <p:cNvPr id="14" name="Rectangle 13"/>
          <p:cNvSpPr/>
          <p:nvPr/>
        </p:nvSpPr>
        <p:spPr>
          <a:xfrm>
            <a:off x="411480" y="4709160"/>
            <a:ext cx="11338560" cy="123444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4709160"/>
            <a:ext cx="64008" cy="12344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855464"/>
            <a:ext cx="3200400" cy="502920"/>
          </a:xfrm>
          <a:prstGeom prst="rect">
            <a:avLst/>
          </a:prstGeom>
          <a:noFill/>
        </p:spPr>
        <p:txBody>
          <a:bodyPr wrap="square">
            <a:spAutoFit/>
          </a:bodyPr>
          <a:lstStyle/>
          <a:p>
            <a:pPr algn="l"/>
            <a:r>
              <a:rPr sz="1800" b="1" i="0">
                <a:solidFill>
                  <a:srgbClr val="48CAE4"/>
                </a:solidFill>
                <a:latin typeface="Calibri"/>
              </a:rPr>
              <a:t>Expert guidance costs $150–300/month</a:t>
            </a:r>
          </a:p>
        </p:txBody>
      </p:sp>
      <p:sp>
        <p:nvSpPr>
          <p:cNvPr id="17" name="TextBox 16"/>
          <p:cNvSpPr txBox="1"/>
          <p:nvPr/>
        </p:nvSpPr>
        <p:spPr>
          <a:xfrm>
            <a:off x="3657600" y="4873752"/>
            <a:ext cx="7863840" cy="475488"/>
          </a:xfrm>
          <a:prstGeom prst="rect">
            <a:avLst/>
          </a:prstGeom>
          <a:noFill/>
        </p:spPr>
        <p:txBody>
          <a:bodyPr wrap="square">
            <a:spAutoFit/>
          </a:bodyPr>
          <a:lstStyle/>
          <a:p>
            <a:pPr algn="l"/>
            <a:r>
              <a:rPr sz="1700" b="0" i="0">
                <a:solidFill>
                  <a:srgbClr val="B0CEE6"/>
                </a:solidFill>
                <a:latin typeface="Calibri"/>
              </a:rPr>
              <a:t>Sports scientists and personal coaches are a luxury. Evidence-based training advice is not accessible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9144000" cy="411480"/>
          </a:xfrm>
          <a:prstGeom prst="rect">
            <a:avLst/>
          </a:prstGeom>
          <a:noFill/>
        </p:spPr>
        <p:txBody>
          <a:bodyPr wrap="square">
            <a:spAutoFit/>
          </a:bodyPr>
          <a:lstStyle/>
          <a:p>
            <a:pPr algn="l"/>
            <a:r>
              <a:rPr sz="1200" b="1" i="0">
                <a:solidFill>
                  <a:srgbClr val="00B4D8"/>
                </a:solidFill>
                <a:latin typeface="Calibri"/>
              </a:rPr>
              <a:t>THE SOLUTION</a:t>
            </a:r>
          </a:p>
        </p:txBody>
      </p:sp>
      <p:sp>
        <p:nvSpPr>
          <p:cNvPr id="4" name="TextBox 3"/>
          <p:cNvSpPr txBox="1"/>
          <p:nvPr/>
        </p:nvSpPr>
        <p:spPr>
          <a:xfrm>
            <a:off x="411480" y="777240"/>
            <a:ext cx="10972800" cy="914400"/>
          </a:xfrm>
          <a:prstGeom prst="rect">
            <a:avLst/>
          </a:prstGeom>
          <a:noFill/>
        </p:spPr>
        <p:txBody>
          <a:bodyPr wrap="square">
            <a:spAutoFit/>
          </a:bodyPr>
          <a:lstStyle/>
          <a:p>
            <a:pPr algn="l"/>
            <a:r>
              <a:rPr sz="3600" b="1" i="0">
                <a:solidFill>
                  <a:srgbClr val="FFFFFF"/>
                </a:solidFill>
                <a:latin typeface="Calibri"/>
              </a:rPr>
              <a:t>One platform. Any source. AI that speaks sports science.</a:t>
            </a:r>
          </a:p>
        </p:txBody>
      </p:sp>
      <p:sp>
        <p:nvSpPr>
          <p:cNvPr id="5" name="Rectangle 4"/>
          <p:cNvSpPr/>
          <p:nvPr/>
        </p:nvSpPr>
        <p:spPr>
          <a:xfrm>
            <a:off x="411480" y="1828800"/>
            <a:ext cx="2011680" cy="5029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2103120"/>
            <a:ext cx="3657600" cy="42976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2103120"/>
            <a:ext cx="365760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240280"/>
            <a:ext cx="3291840" cy="548640"/>
          </a:xfrm>
          <a:prstGeom prst="rect">
            <a:avLst/>
          </a:prstGeom>
          <a:noFill/>
        </p:spPr>
        <p:txBody>
          <a:bodyPr wrap="square">
            <a:spAutoFit/>
          </a:bodyPr>
          <a:lstStyle/>
          <a:p>
            <a:pPr algn="l"/>
            <a:r>
              <a:rPr sz="1800" b="1" i="0">
                <a:solidFill>
                  <a:srgbClr val="00B4D8"/>
                </a:solidFill>
                <a:latin typeface="Calibri"/>
              </a:rPr>
              <a:t>① CONNECT</a:t>
            </a:r>
          </a:p>
        </p:txBody>
      </p:sp>
      <p:sp>
        <p:nvSpPr>
          <p:cNvPr id="9" name="TextBox 8"/>
          <p:cNvSpPr txBox="1"/>
          <p:nvPr/>
        </p:nvSpPr>
        <p:spPr>
          <a:xfrm>
            <a:off x="594360" y="2834640"/>
            <a:ext cx="3291840" cy="2011680"/>
          </a:xfrm>
          <a:prstGeom prst="rect">
            <a:avLst/>
          </a:prstGeom>
          <a:noFill/>
        </p:spPr>
        <p:txBody>
          <a:bodyPr wrap="square">
            <a:spAutoFit/>
          </a:bodyPr>
          <a:lstStyle/>
          <a:p>
            <a:pPr algn="l"/>
            <a:r>
              <a:rPr sz="1600" b="0" i="0">
                <a:solidFill>
                  <a:srgbClr val="B0CEE6"/>
                </a:solidFill>
                <a:latin typeface="Calibri"/>
              </a:rPr>
              <a:t>Strava · Fitbit OAuth
Apple Health · Garmin
.fit / .tcx / .gpx files
Manual log + GPS tracker</a:t>
            </a:r>
          </a:p>
          <a:p>
            <a:pPr algn="l"/>
            <a:r>
              <a:rPr sz="1600" b="0" i="0">
                <a:solidFill>
                  <a:srgbClr val="B0CEE6"/>
                </a:solidFill>
                <a:latin typeface="Calibri"/>
              </a:rPr>
              <a:t>Native Android app + iOS sideload</a:t>
            </a:r>
          </a:p>
        </p:txBody>
      </p:sp>
      <p:sp>
        <p:nvSpPr>
          <p:cNvPr id="10" name="Rectangle 9"/>
          <p:cNvSpPr/>
          <p:nvPr/>
        </p:nvSpPr>
        <p:spPr>
          <a:xfrm>
            <a:off x="594360" y="4937760"/>
            <a:ext cx="3200400" cy="411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5074920"/>
            <a:ext cx="3291840" cy="777240"/>
          </a:xfrm>
          <a:prstGeom prst="rect">
            <a:avLst/>
          </a:prstGeom>
          <a:noFill/>
        </p:spPr>
        <p:txBody>
          <a:bodyPr wrap="square">
            <a:spAutoFit/>
          </a:bodyPr>
          <a:lstStyle/>
          <a:p>
            <a:pPr algn="l"/>
            <a:r>
              <a:rPr sz="1500" b="0" i="1">
                <a:solidFill>
                  <a:srgbClr val="48CAE4"/>
                </a:solidFill>
                <a:latin typeface="Calibri"/>
              </a:rPr>
              <a:t>13+ sources.
No new hardware.</a:t>
            </a:r>
          </a:p>
        </p:txBody>
      </p:sp>
      <p:sp>
        <p:nvSpPr>
          <p:cNvPr id="12" name="Rectangle 11"/>
          <p:cNvSpPr/>
          <p:nvPr/>
        </p:nvSpPr>
        <p:spPr>
          <a:xfrm>
            <a:off x="4343400" y="2103120"/>
            <a:ext cx="3657600" cy="42976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2103120"/>
            <a:ext cx="365760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2240280"/>
            <a:ext cx="3291840" cy="548640"/>
          </a:xfrm>
          <a:prstGeom prst="rect">
            <a:avLst/>
          </a:prstGeom>
          <a:noFill/>
        </p:spPr>
        <p:txBody>
          <a:bodyPr wrap="square">
            <a:spAutoFit/>
          </a:bodyPr>
          <a:lstStyle/>
          <a:p>
            <a:pPr algn="l"/>
            <a:r>
              <a:rPr sz="1800" b="1" i="0">
                <a:solidFill>
                  <a:srgbClr val="00B4D8"/>
                </a:solidFill>
                <a:latin typeface="Calibri"/>
              </a:rPr>
              <a:t>② ANALYZE</a:t>
            </a:r>
          </a:p>
        </p:txBody>
      </p:sp>
      <p:sp>
        <p:nvSpPr>
          <p:cNvPr id="15" name="TextBox 14"/>
          <p:cNvSpPr txBox="1"/>
          <p:nvPr/>
        </p:nvSpPr>
        <p:spPr>
          <a:xfrm>
            <a:off x="4526280" y="2834640"/>
            <a:ext cx="3291840" cy="2011680"/>
          </a:xfrm>
          <a:prstGeom prst="rect">
            <a:avLst/>
          </a:prstGeom>
          <a:noFill/>
        </p:spPr>
        <p:txBody>
          <a:bodyPr wrap="square">
            <a:spAutoFit/>
          </a:bodyPr>
          <a:lstStyle/>
          <a:p>
            <a:pPr algn="l"/>
            <a:r>
              <a:rPr sz="1600" b="0" i="0">
                <a:solidFill>
                  <a:srgbClr val="B0CEE6"/>
                </a:solidFill>
                <a:latin typeface="Calibri"/>
              </a:rPr>
              <a:t>8 specialized AI agents
Sports scientist reasoning
Trend &amp; pattern detection
QA-scored output</a:t>
            </a:r>
          </a:p>
        </p:txBody>
      </p:sp>
      <p:sp>
        <p:nvSpPr>
          <p:cNvPr id="16" name="Rectangle 15"/>
          <p:cNvSpPr/>
          <p:nvPr/>
        </p:nvSpPr>
        <p:spPr>
          <a:xfrm>
            <a:off x="4526280" y="4937760"/>
            <a:ext cx="3200400" cy="411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5074920"/>
            <a:ext cx="3291840" cy="777240"/>
          </a:xfrm>
          <a:prstGeom prst="rect">
            <a:avLst/>
          </a:prstGeom>
          <a:noFill/>
        </p:spPr>
        <p:txBody>
          <a:bodyPr wrap="square">
            <a:spAutoFit/>
          </a:bodyPr>
          <a:lstStyle/>
          <a:p>
            <a:pPr algn="l"/>
            <a:r>
              <a:rPr sz="1500" b="0" i="1">
                <a:solidFill>
                  <a:srgbClr val="48CAE4"/>
                </a:solidFill>
                <a:latin typeface="Calibri"/>
              </a:rPr>
              <a:t>Expert-level analysis
automatically.</a:t>
            </a:r>
          </a:p>
        </p:txBody>
      </p:sp>
      <p:sp>
        <p:nvSpPr>
          <p:cNvPr id="18" name="Rectangle 17"/>
          <p:cNvSpPr/>
          <p:nvPr/>
        </p:nvSpPr>
        <p:spPr>
          <a:xfrm>
            <a:off x="8275319" y="2103120"/>
            <a:ext cx="3657600" cy="42976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75319" y="2103120"/>
            <a:ext cx="365760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58199" y="2240280"/>
            <a:ext cx="3291840" cy="548640"/>
          </a:xfrm>
          <a:prstGeom prst="rect">
            <a:avLst/>
          </a:prstGeom>
          <a:noFill/>
        </p:spPr>
        <p:txBody>
          <a:bodyPr wrap="square">
            <a:spAutoFit/>
          </a:bodyPr>
          <a:lstStyle/>
          <a:p>
            <a:pPr algn="l"/>
            <a:r>
              <a:rPr sz="1800" b="1" i="0">
                <a:solidFill>
                  <a:srgbClr val="00B4D8"/>
                </a:solidFill>
                <a:latin typeface="Calibri"/>
              </a:rPr>
              <a:t>③ ACT</a:t>
            </a:r>
          </a:p>
        </p:txBody>
      </p:sp>
      <p:sp>
        <p:nvSpPr>
          <p:cNvPr id="21" name="TextBox 20"/>
          <p:cNvSpPr txBox="1"/>
          <p:nvPr/>
        </p:nvSpPr>
        <p:spPr>
          <a:xfrm>
            <a:off x="8458199" y="2834640"/>
            <a:ext cx="3291840" cy="2011680"/>
          </a:xfrm>
          <a:prstGeom prst="rect">
            <a:avLst/>
          </a:prstGeom>
          <a:noFill/>
        </p:spPr>
        <p:txBody>
          <a:bodyPr wrap="square">
            <a:spAutoFit/>
          </a:bodyPr>
          <a:lstStyle/>
          <a:p>
            <a:pPr algn="l"/>
            <a:r>
              <a:rPr sz="1600" b="0" i="0">
                <a:solidFill>
                  <a:srgbClr val="B0CEE6"/>
                </a:solidFill>
                <a:latin typeface="Calibri"/>
              </a:rPr>
              <a:t>Adaptive weekly coach plan
Daily readiness score
Proactive health alerts
Conversational data chat</a:t>
            </a:r>
          </a:p>
        </p:txBody>
      </p:sp>
      <p:sp>
        <p:nvSpPr>
          <p:cNvPr id="22" name="Rectangle 21"/>
          <p:cNvSpPr/>
          <p:nvPr/>
        </p:nvSpPr>
        <p:spPr>
          <a:xfrm>
            <a:off x="8458199" y="4937760"/>
            <a:ext cx="3200400" cy="411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58199" y="5074920"/>
            <a:ext cx="3291840" cy="777240"/>
          </a:xfrm>
          <a:prstGeom prst="rect">
            <a:avLst/>
          </a:prstGeom>
          <a:noFill/>
        </p:spPr>
        <p:txBody>
          <a:bodyPr wrap="square">
            <a:spAutoFit/>
          </a:bodyPr>
          <a:lstStyle/>
          <a:p>
            <a:pPr algn="l"/>
            <a:r>
              <a:rPr sz="1500" b="0" i="1">
                <a:solidFill>
                  <a:srgbClr val="48CAE4"/>
                </a:solidFill>
                <a:latin typeface="Calibri"/>
              </a:rPr>
              <a:t>From data to decision
in seconds.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9144000" cy="411480"/>
          </a:xfrm>
          <a:prstGeom prst="rect">
            <a:avLst/>
          </a:prstGeom>
          <a:noFill/>
        </p:spPr>
        <p:txBody>
          <a:bodyPr wrap="square">
            <a:spAutoFit/>
          </a:bodyPr>
          <a:lstStyle/>
          <a:p>
            <a:pPr algn="l"/>
            <a:r>
              <a:rPr sz="1200" b="1" i="0">
                <a:solidFill>
                  <a:srgbClr val="00B4D8"/>
                </a:solidFill>
                <a:latin typeface="Calibri"/>
              </a:rPr>
              <a:t>CREATIVITY &amp; INNOVATION</a:t>
            </a:r>
          </a:p>
        </p:txBody>
      </p:sp>
      <p:sp>
        <p:nvSpPr>
          <p:cNvPr id="4" name="TextBox 3"/>
          <p:cNvSpPr txBox="1"/>
          <p:nvPr/>
        </p:nvSpPr>
        <p:spPr>
          <a:xfrm>
            <a:off x="411480" y="777240"/>
            <a:ext cx="10058400" cy="777240"/>
          </a:xfrm>
          <a:prstGeom prst="rect">
            <a:avLst/>
          </a:prstGeom>
          <a:noFill/>
        </p:spPr>
        <p:txBody>
          <a:bodyPr wrap="square">
            <a:spAutoFit/>
          </a:bodyPr>
          <a:lstStyle/>
          <a:p>
            <a:pPr algn="l"/>
            <a:r>
              <a:rPr sz="4000" b="1" i="0">
                <a:solidFill>
                  <a:srgbClr val="FFFFFF"/>
                </a:solidFill>
                <a:latin typeface="Calibri"/>
              </a:rPr>
              <a:t>What makes this genuinely different.</a:t>
            </a:r>
          </a:p>
        </p:txBody>
      </p:sp>
      <p:sp>
        <p:nvSpPr>
          <p:cNvPr id="5" name="Rectangle 4"/>
          <p:cNvSpPr/>
          <p:nvPr/>
        </p:nvSpPr>
        <p:spPr>
          <a:xfrm>
            <a:off x="411480" y="1691640"/>
            <a:ext cx="1828800" cy="5029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920240"/>
            <a:ext cx="11338560" cy="1024128"/>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920240"/>
            <a:ext cx="64008" cy="102412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066544"/>
            <a:ext cx="3200400" cy="502920"/>
          </a:xfrm>
          <a:prstGeom prst="rect">
            <a:avLst/>
          </a:prstGeom>
          <a:noFill/>
        </p:spPr>
        <p:txBody>
          <a:bodyPr wrap="square">
            <a:spAutoFit/>
          </a:bodyPr>
          <a:lstStyle/>
          <a:p>
            <a:pPr algn="l"/>
            <a:r>
              <a:rPr sz="1800" b="1" i="0">
                <a:solidFill>
                  <a:srgbClr val="48CAE4"/>
                </a:solidFill>
                <a:latin typeface="Calibri"/>
              </a:rPr>
              <a:t>Multi-agent pipeline from scratch</a:t>
            </a:r>
          </a:p>
        </p:txBody>
      </p:sp>
      <p:sp>
        <p:nvSpPr>
          <p:cNvPr id="9" name="TextBox 8"/>
          <p:cNvSpPr txBox="1"/>
          <p:nvPr/>
        </p:nvSpPr>
        <p:spPr>
          <a:xfrm>
            <a:off x="3657600" y="2084832"/>
            <a:ext cx="7863840" cy="475488"/>
          </a:xfrm>
          <a:prstGeom prst="rect">
            <a:avLst/>
          </a:prstGeom>
          <a:noFill/>
        </p:spPr>
        <p:txBody>
          <a:bodyPr wrap="square">
            <a:spAutoFit/>
          </a:bodyPr>
          <a:lstStyle/>
          <a:p>
            <a:pPr algn="l"/>
            <a:r>
              <a:rPr sz="1700" b="0" i="0">
                <a:solidFill>
                  <a:srgbClr val="B0CEE6"/>
                </a:solidFill>
                <a:latin typeface="Calibri"/>
              </a:rPr>
              <a:t>Not a wrapper around ChatGPT. 8 purpose-built agents — context, cleaner, prompt engineer, analyst, sports scientist, trend analyzer, formatter, QA critic — each with a defined role and passing context forward</a:t>
            </a:r>
          </a:p>
        </p:txBody>
      </p:sp>
      <p:sp>
        <p:nvSpPr>
          <p:cNvPr id="10" name="Rectangle 9"/>
          <p:cNvSpPr/>
          <p:nvPr/>
        </p:nvSpPr>
        <p:spPr>
          <a:xfrm>
            <a:off x="411480" y="3035808"/>
            <a:ext cx="11338560" cy="1024128"/>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3035808"/>
            <a:ext cx="64008" cy="102412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182112"/>
            <a:ext cx="3200400" cy="502920"/>
          </a:xfrm>
          <a:prstGeom prst="rect">
            <a:avLst/>
          </a:prstGeom>
          <a:noFill/>
        </p:spPr>
        <p:txBody>
          <a:bodyPr wrap="square">
            <a:spAutoFit/>
          </a:bodyPr>
          <a:lstStyle/>
          <a:p>
            <a:pPr algn="l"/>
            <a:r>
              <a:rPr sz="1800" b="1" i="0">
                <a:solidFill>
                  <a:srgbClr val="48CAE4"/>
                </a:solidFill>
                <a:latin typeface="Calibri"/>
              </a:rPr>
              <a:t>Free alternatives to $15–18/mo subscriptions</a:t>
            </a:r>
          </a:p>
        </p:txBody>
      </p:sp>
      <p:sp>
        <p:nvSpPr>
          <p:cNvPr id="13" name="TextBox 12"/>
          <p:cNvSpPr txBox="1"/>
          <p:nvPr/>
        </p:nvSpPr>
        <p:spPr>
          <a:xfrm>
            <a:off x="3657600" y="3200400"/>
            <a:ext cx="7863840" cy="475488"/>
          </a:xfrm>
          <a:prstGeom prst="rect">
            <a:avLst/>
          </a:prstGeom>
          <a:noFill/>
        </p:spPr>
        <p:txBody>
          <a:bodyPr wrap="square">
            <a:spAutoFit/>
          </a:bodyPr>
          <a:lstStyle/>
          <a:p>
            <a:pPr algn="l"/>
            <a:r>
              <a:rPr sz="1700" b="0" i="0">
                <a:solidFill>
                  <a:srgbClr val="B0CEE6"/>
                </a:solidFill>
                <a:latin typeface="Calibri"/>
              </a:rPr>
              <a:t>Whoop and Oura charge monthly fees just for a recovery score. This platform computes the same Readiness Score — HRV trend, resting HR, sleep quality, acute:chronic load — deterministically, at zero cost, from any data source</a:t>
            </a:r>
          </a:p>
        </p:txBody>
      </p:sp>
      <p:sp>
        <p:nvSpPr>
          <p:cNvPr id="14" name="Rectangle 13"/>
          <p:cNvSpPr/>
          <p:nvPr/>
        </p:nvSpPr>
        <p:spPr>
          <a:xfrm>
            <a:off x="411480" y="4151376"/>
            <a:ext cx="11338560" cy="1024128"/>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4151376"/>
            <a:ext cx="64008" cy="102412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297680"/>
            <a:ext cx="3200400" cy="502920"/>
          </a:xfrm>
          <a:prstGeom prst="rect">
            <a:avLst/>
          </a:prstGeom>
          <a:noFill/>
        </p:spPr>
        <p:txBody>
          <a:bodyPr wrap="square">
            <a:spAutoFit/>
          </a:bodyPr>
          <a:lstStyle/>
          <a:p>
            <a:pPr algn="l"/>
            <a:r>
              <a:rPr sz="1800" b="1" i="0">
                <a:solidFill>
                  <a:srgbClr val="48CAE4"/>
                </a:solidFill>
                <a:latin typeface="Calibri"/>
              </a:rPr>
              <a:t>Universal import — any device, any app</a:t>
            </a:r>
          </a:p>
        </p:txBody>
      </p:sp>
      <p:sp>
        <p:nvSpPr>
          <p:cNvPr id="17" name="TextBox 16"/>
          <p:cNvSpPr txBox="1"/>
          <p:nvPr/>
        </p:nvSpPr>
        <p:spPr>
          <a:xfrm>
            <a:off x="3657600" y="4315968"/>
            <a:ext cx="7863840" cy="475488"/>
          </a:xfrm>
          <a:prstGeom prst="rect">
            <a:avLst/>
          </a:prstGeom>
          <a:noFill/>
        </p:spPr>
        <p:txBody>
          <a:bodyPr wrap="square">
            <a:spAutoFit/>
          </a:bodyPr>
          <a:lstStyle/>
          <a:p>
            <a:pPr algn="l"/>
            <a:r>
              <a:rPr sz="1700" b="0" i="0">
                <a:solidFill>
                  <a:srgbClr val="B0CEE6"/>
                </a:solidFill>
                <a:latin typeface="Calibri"/>
              </a:rPr>
              <a:t>Most platforms lock you into their ecosystem. This reads .fit, .tcx, .gpx from 13+ sources and attributes every row to its device — Garmin looks different from Apple Watch. The AI knows the difference</a:t>
            </a:r>
          </a:p>
        </p:txBody>
      </p:sp>
      <p:sp>
        <p:nvSpPr>
          <p:cNvPr id="18" name="Rectangle 17"/>
          <p:cNvSpPr/>
          <p:nvPr/>
        </p:nvSpPr>
        <p:spPr>
          <a:xfrm>
            <a:off x="411480" y="5266944"/>
            <a:ext cx="11338560" cy="1024128"/>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 y="5266944"/>
            <a:ext cx="64008" cy="102412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5413248"/>
            <a:ext cx="3200400" cy="502920"/>
          </a:xfrm>
          <a:prstGeom prst="rect">
            <a:avLst/>
          </a:prstGeom>
          <a:noFill/>
        </p:spPr>
        <p:txBody>
          <a:bodyPr wrap="square">
            <a:spAutoFit/>
          </a:bodyPr>
          <a:lstStyle/>
          <a:p>
            <a:pPr algn="l"/>
            <a:r>
              <a:rPr sz="1800" b="1" i="0">
                <a:solidFill>
                  <a:srgbClr val="48CAE4"/>
                </a:solidFill>
                <a:latin typeface="Calibri"/>
              </a:rPr>
              <a:t>Light + heavy AI on the same platform</a:t>
            </a:r>
          </a:p>
        </p:txBody>
      </p:sp>
      <p:sp>
        <p:nvSpPr>
          <p:cNvPr id="21" name="TextBox 20"/>
          <p:cNvSpPr txBox="1"/>
          <p:nvPr/>
        </p:nvSpPr>
        <p:spPr>
          <a:xfrm>
            <a:off x="3657600" y="5431536"/>
            <a:ext cx="7863840" cy="475488"/>
          </a:xfrm>
          <a:prstGeom prst="rect">
            <a:avLst/>
          </a:prstGeom>
          <a:noFill/>
        </p:spPr>
        <p:txBody>
          <a:bodyPr wrap="square">
            <a:spAutoFit/>
          </a:bodyPr>
          <a:lstStyle/>
          <a:p>
            <a:pPr algn="l"/>
            <a:r>
              <a:rPr sz="1700" b="0" i="0">
                <a:solidFill>
                  <a:srgbClr val="B0CEE6"/>
                </a:solidFill>
                <a:latin typeface="Calibri"/>
              </a:rPr>
              <a:t>Heavy 8-agent analysis in a HuggingFace Space; lightweight Coach, Chat, and Watchdog on the always-on Vercel backend via a custom multi-model failover router (llm_lite.py) with a 200-call/day guardrail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9144000" cy="411480"/>
          </a:xfrm>
          <a:prstGeom prst="rect">
            <a:avLst/>
          </a:prstGeom>
          <a:noFill/>
        </p:spPr>
        <p:txBody>
          <a:bodyPr wrap="square">
            <a:spAutoFit/>
          </a:bodyPr>
          <a:lstStyle/>
          <a:p>
            <a:pPr algn="l"/>
            <a:r>
              <a:rPr sz="1200" b="1" i="0">
                <a:solidFill>
                  <a:srgbClr val="00B4D8"/>
                </a:solidFill>
                <a:latin typeface="Calibri"/>
              </a:rPr>
              <a:t>WHAT IT DOES</a:t>
            </a:r>
          </a:p>
        </p:txBody>
      </p:sp>
      <p:sp>
        <p:nvSpPr>
          <p:cNvPr id="4" name="TextBox 3"/>
          <p:cNvSpPr txBox="1"/>
          <p:nvPr/>
        </p:nvSpPr>
        <p:spPr>
          <a:xfrm>
            <a:off x="411480" y="777240"/>
            <a:ext cx="8229600" cy="685800"/>
          </a:xfrm>
          <a:prstGeom prst="rect">
            <a:avLst/>
          </a:prstGeom>
          <a:noFill/>
        </p:spPr>
        <p:txBody>
          <a:bodyPr wrap="square">
            <a:spAutoFit/>
          </a:bodyPr>
          <a:lstStyle/>
          <a:p>
            <a:pPr algn="l"/>
            <a:r>
              <a:rPr sz="4000" b="1" i="0">
                <a:solidFill>
                  <a:srgbClr val="FFFFFF"/>
                </a:solidFill>
                <a:latin typeface="Calibri"/>
              </a:rPr>
              <a:t>Five AI-powered capabilities.</a:t>
            </a:r>
          </a:p>
        </p:txBody>
      </p:sp>
      <p:sp>
        <p:nvSpPr>
          <p:cNvPr id="5" name="Rectangle 4"/>
          <p:cNvSpPr/>
          <p:nvPr/>
        </p:nvSpPr>
        <p:spPr>
          <a:xfrm>
            <a:off x="411480" y="1600200"/>
            <a:ext cx="1463040" cy="5029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828800"/>
            <a:ext cx="11338560" cy="859536"/>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828800"/>
            <a:ext cx="64008" cy="85953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75104"/>
            <a:ext cx="3200400" cy="502920"/>
          </a:xfrm>
          <a:prstGeom prst="rect">
            <a:avLst/>
          </a:prstGeom>
          <a:noFill/>
        </p:spPr>
        <p:txBody>
          <a:bodyPr wrap="square">
            <a:spAutoFit/>
          </a:bodyPr>
          <a:lstStyle/>
          <a:p>
            <a:pPr algn="l"/>
            <a:r>
              <a:rPr sz="1800" b="1" i="0">
                <a:solidFill>
                  <a:srgbClr val="48CAE4"/>
                </a:solidFill>
                <a:latin typeface="Calibri"/>
              </a:rPr>
              <a:t>AI Analysis</a:t>
            </a:r>
          </a:p>
        </p:txBody>
      </p:sp>
      <p:sp>
        <p:nvSpPr>
          <p:cNvPr id="9" name="TextBox 8"/>
          <p:cNvSpPr txBox="1"/>
          <p:nvPr/>
        </p:nvSpPr>
        <p:spPr>
          <a:xfrm>
            <a:off x="3657600" y="1993392"/>
            <a:ext cx="7863840" cy="475488"/>
          </a:xfrm>
          <a:prstGeom prst="rect">
            <a:avLst/>
          </a:prstGeom>
          <a:noFill/>
        </p:spPr>
        <p:txBody>
          <a:bodyPr wrap="square">
            <a:spAutoFit/>
          </a:bodyPr>
          <a:lstStyle/>
          <a:p>
            <a:pPr algn="l"/>
            <a:r>
              <a:rPr sz="1700" b="0" i="0">
                <a:solidFill>
                  <a:srgbClr val="B0CEE6"/>
                </a:solidFill>
                <a:latin typeface="Calibri"/>
              </a:rPr>
              <a:t>8-agent CrewAI pipeline → metrics, charts, trends, QA-scored report</a:t>
            </a:r>
          </a:p>
        </p:txBody>
      </p:sp>
      <p:sp>
        <p:nvSpPr>
          <p:cNvPr id="10" name="Rectangle 9"/>
          <p:cNvSpPr/>
          <p:nvPr/>
        </p:nvSpPr>
        <p:spPr>
          <a:xfrm>
            <a:off x="411480" y="2779776"/>
            <a:ext cx="11338560" cy="859536"/>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2779776"/>
            <a:ext cx="64008" cy="85953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926080"/>
            <a:ext cx="3200400" cy="502920"/>
          </a:xfrm>
          <a:prstGeom prst="rect">
            <a:avLst/>
          </a:prstGeom>
          <a:noFill/>
        </p:spPr>
        <p:txBody>
          <a:bodyPr wrap="square">
            <a:spAutoFit/>
          </a:bodyPr>
          <a:lstStyle/>
          <a:p>
            <a:pPr algn="l"/>
            <a:r>
              <a:rPr sz="1800" b="1" i="0">
                <a:solidFill>
                  <a:srgbClr val="48CAE4"/>
                </a:solidFill>
                <a:latin typeface="Calibri"/>
              </a:rPr>
              <a:t>AI Coach</a:t>
            </a:r>
          </a:p>
        </p:txBody>
      </p:sp>
      <p:sp>
        <p:nvSpPr>
          <p:cNvPr id="13" name="TextBox 12"/>
          <p:cNvSpPr txBox="1"/>
          <p:nvPr/>
        </p:nvSpPr>
        <p:spPr>
          <a:xfrm>
            <a:off x="3657600" y="2944368"/>
            <a:ext cx="7863840" cy="475488"/>
          </a:xfrm>
          <a:prstGeom prst="rect">
            <a:avLst/>
          </a:prstGeom>
          <a:noFill/>
        </p:spPr>
        <p:txBody>
          <a:bodyPr wrap="square">
            <a:spAutoFit/>
          </a:bodyPr>
          <a:lstStyle/>
          <a:p>
            <a:pPr algn="l"/>
            <a:r>
              <a:rPr sz="1700" b="0" i="0">
                <a:solidFill>
                  <a:srgbClr val="B0CEE6"/>
                </a:solidFill>
                <a:latin typeface="Calibri"/>
              </a:rPr>
              <a:t>Set a goal → adaptive weekly plan that tracks and re-plans based on real workouts</a:t>
            </a:r>
          </a:p>
        </p:txBody>
      </p:sp>
      <p:sp>
        <p:nvSpPr>
          <p:cNvPr id="14" name="Rectangle 13"/>
          <p:cNvSpPr/>
          <p:nvPr/>
        </p:nvSpPr>
        <p:spPr>
          <a:xfrm>
            <a:off x="411480" y="3730752"/>
            <a:ext cx="11338560" cy="859536"/>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3730752"/>
            <a:ext cx="64008" cy="85953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877056"/>
            <a:ext cx="3200400" cy="502920"/>
          </a:xfrm>
          <a:prstGeom prst="rect">
            <a:avLst/>
          </a:prstGeom>
          <a:noFill/>
        </p:spPr>
        <p:txBody>
          <a:bodyPr wrap="square">
            <a:spAutoFit/>
          </a:bodyPr>
          <a:lstStyle/>
          <a:p>
            <a:pPr algn="l"/>
            <a:r>
              <a:rPr sz="1800" b="1" i="0">
                <a:solidFill>
                  <a:srgbClr val="48CAE4"/>
                </a:solidFill>
                <a:latin typeface="Calibri"/>
              </a:rPr>
              <a:t>Readiness Score</a:t>
            </a:r>
          </a:p>
        </p:txBody>
      </p:sp>
      <p:sp>
        <p:nvSpPr>
          <p:cNvPr id="17" name="TextBox 16"/>
          <p:cNvSpPr txBox="1"/>
          <p:nvPr/>
        </p:nvSpPr>
        <p:spPr>
          <a:xfrm>
            <a:off x="3657600" y="3895344"/>
            <a:ext cx="7863840" cy="475488"/>
          </a:xfrm>
          <a:prstGeom prst="rect">
            <a:avLst/>
          </a:prstGeom>
          <a:noFill/>
        </p:spPr>
        <p:txBody>
          <a:bodyPr wrap="square">
            <a:spAutoFit/>
          </a:bodyPr>
          <a:lstStyle/>
          <a:p>
            <a:pPr algn="l"/>
            <a:r>
              <a:rPr sz="1700" b="0" i="0">
                <a:solidFill>
                  <a:srgbClr val="B0CEE6"/>
                </a:solidFill>
                <a:latin typeface="Calibri"/>
              </a:rPr>
              <a:t>HRV + resting HR + sleep + training load → daily recovery number, like Whoop — free</a:t>
            </a:r>
          </a:p>
        </p:txBody>
      </p:sp>
      <p:sp>
        <p:nvSpPr>
          <p:cNvPr id="18" name="Rectangle 17"/>
          <p:cNvSpPr/>
          <p:nvPr/>
        </p:nvSpPr>
        <p:spPr>
          <a:xfrm>
            <a:off x="411480" y="4681728"/>
            <a:ext cx="11338560" cy="859536"/>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 y="4681728"/>
            <a:ext cx="64008" cy="85953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828032"/>
            <a:ext cx="3200400" cy="502920"/>
          </a:xfrm>
          <a:prstGeom prst="rect">
            <a:avLst/>
          </a:prstGeom>
          <a:noFill/>
        </p:spPr>
        <p:txBody>
          <a:bodyPr wrap="square">
            <a:spAutoFit/>
          </a:bodyPr>
          <a:lstStyle/>
          <a:p>
            <a:pPr algn="l"/>
            <a:r>
              <a:rPr sz="1800" b="1" i="0">
                <a:solidFill>
                  <a:srgbClr val="48CAE4"/>
                </a:solidFill>
                <a:latin typeface="Calibri"/>
              </a:rPr>
              <a:t>Health Watchdog</a:t>
            </a:r>
          </a:p>
        </p:txBody>
      </p:sp>
      <p:sp>
        <p:nvSpPr>
          <p:cNvPr id="21" name="TextBox 20"/>
          <p:cNvSpPr txBox="1"/>
          <p:nvPr/>
        </p:nvSpPr>
        <p:spPr>
          <a:xfrm>
            <a:off x="3657600" y="4846320"/>
            <a:ext cx="7863840" cy="475488"/>
          </a:xfrm>
          <a:prstGeom prst="rect">
            <a:avLst/>
          </a:prstGeom>
          <a:noFill/>
        </p:spPr>
        <p:txBody>
          <a:bodyPr wrap="square">
            <a:spAutoFit/>
          </a:bodyPr>
          <a:lstStyle/>
          <a:p>
            <a:pPr algn="l"/>
            <a:r>
              <a:rPr sz="1700" b="0" i="0">
                <a:solidFill>
                  <a:srgbClr val="B0CEE6"/>
                </a:solidFill>
                <a:latin typeface="Calibri"/>
              </a:rPr>
              <a:t>Deterministic alerts: rising resting HR, dropping HRV, acute:chronic load spike</a:t>
            </a:r>
          </a:p>
        </p:txBody>
      </p:sp>
      <p:sp>
        <p:nvSpPr>
          <p:cNvPr id="22" name="Rectangle 21"/>
          <p:cNvSpPr/>
          <p:nvPr/>
        </p:nvSpPr>
        <p:spPr>
          <a:xfrm>
            <a:off x="411480" y="5632704"/>
            <a:ext cx="11338560" cy="859536"/>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1480" y="5632704"/>
            <a:ext cx="64008" cy="85953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779008"/>
            <a:ext cx="3200400" cy="502920"/>
          </a:xfrm>
          <a:prstGeom prst="rect">
            <a:avLst/>
          </a:prstGeom>
          <a:noFill/>
        </p:spPr>
        <p:txBody>
          <a:bodyPr wrap="square">
            <a:spAutoFit/>
          </a:bodyPr>
          <a:lstStyle/>
          <a:p>
            <a:pPr algn="l"/>
            <a:r>
              <a:rPr sz="1800" b="1" i="0">
                <a:solidFill>
                  <a:srgbClr val="48CAE4"/>
                </a:solidFill>
                <a:latin typeface="Calibri"/>
              </a:rPr>
              <a:t>Chat</a:t>
            </a:r>
          </a:p>
        </p:txBody>
      </p:sp>
      <p:sp>
        <p:nvSpPr>
          <p:cNvPr id="25" name="TextBox 24"/>
          <p:cNvSpPr txBox="1"/>
          <p:nvPr/>
        </p:nvSpPr>
        <p:spPr>
          <a:xfrm>
            <a:off x="3657600" y="5797296"/>
            <a:ext cx="7863840" cy="475488"/>
          </a:xfrm>
          <a:prstGeom prst="rect">
            <a:avLst/>
          </a:prstGeom>
          <a:noFill/>
        </p:spPr>
        <p:txBody>
          <a:bodyPr wrap="square">
            <a:spAutoFit/>
          </a:bodyPr>
          <a:lstStyle/>
          <a:p>
            <a:pPr algn="l"/>
            <a:r>
              <a:rPr sz="1700" b="0" i="0">
                <a:solidFill>
                  <a:srgbClr val="B0CEE6"/>
                </a:solidFill>
                <a:latin typeface="Calibri"/>
              </a:rPr>
              <a:t>Ask anything in plain English — answers are grounded in your actual data, not hallucinated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9144000" cy="411480"/>
          </a:xfrm>
          <a:prstGeom prst="rect">
            <a:avLst/>
          </a:prstGeom>
          <a:noFill/>
        </p:spPr>
        <p:txBody>
          <a:bodyPr wrap="square">
            <a:spAutoFit/>
          </a:bodyPr>
          <a:lstStyle/>
          <a:p>
            <a:pPr algn="l"/>
            <a:r>
              <a:rPr sz="1200" b="1" i="0">
                <a:solidFill>
                  <a:srgbClr val="00B4D8"/>
                </a:solidFill>
                <a:latin typeface="Calibri"/>
              </a:rPr>
              <a:t>UNDER THE HOOD</a:t>
            </a:r>
          </a:p>
        </p:txBody>
      </p:sp>
      <p:sp>
        <p:nvSpPr>
          <p:cNvPr id="4" name="TextBox 3"/>
          <p:cNvSpPr txBox="1"/>
          <p:nvPr/>
        </p:nvSpPr>
        <p:spPr>
          <a:xfrm>
            <a:off x="411480" y="777240"/>
            <a:ext cx="8686800" cy="685800"/>
          </a:xfrm>
          <a:prstGeom prst="rect">
            <a:avLst/>
          </a:prstGeom>
          <a:noFill/>
        </p:spPr>
        <p:txBody>
          <a:bodyPr wrap="square">
            <a:spAutoFit/>
          </a:bodyPr>
          <a:lstStyle/>
          <a:p>
            <a:pPr algn="l"/>
            <a:r>
              <a:rPr sz="3800" b="1" i="0">
                <a:solidFill>
                  <a:srgbClr val="FFFFFF"/>
                </a:solidFill>
                <a:latin typeface="Calibri"/>
              </a:rPr>
              <a:t>The 8-Agent Pipeline + Stack</a:t>
            </a:r>
          </a:p>
        </p:txBody>
      </p:sp>
      <p:sp>
        <p:nvSpPr>
          <p:cNvPr id="5" name="Rectangle 4"/>
          <p:cNvSpPr/>
          <p:nvPr/>
        </p:nvSpPr>
        <p:spPr>
          <a:xfrm>
            <a:off x="411480" y="1627632"/>
            <a:ext cx="1645920" cy="5029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874519"/>
            <a:ext cx="1335024" cy="114300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874519"/>
            <a:ext cx="1335024"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965960"/>
            <a:ext cx="320040" cy="365760"/>
          </a:xfrm>
          <a:prstGeom prst="rect">
            <a:avLst/>
          </a:prstGeom>
          <a:noFill/>
        </p:spPr>
        <p:txBody>
          <a:bodyPr wrap="square">
            <a:spAutoFit/>
          </a:bodyPr>
          <a:lstStyle/>
          <a:p>
            <a:pPr algn="l"/>
            <a:r>
              <a:rPr sz="1300" b="1" i="0">
                <a:solidFill>
                  <a:srgbClr val="00B4D8"/>
                </a:solidFill>
                <a:latin typeface="Calibri"/>
              </a:rPr>
              <a:t>1</a:t>
            </a:r>
          </a:p>
        </p:txBody>
      </p:sp>
      <p:sp>
        <p:nvSpPr>
          <p:cNvPr id="9" name="TextBox 8"/>
          <p:cNvSpPr txBox="1"/>
          <p:nvPr/>
        </p:nvSpPr>
        <p:spPr>
          <a:xfrm>
            <a:off x="502920" y="2313432"/>
            <a:ext cx="1197864" cy="658368"/>
          </a:xfrm>
          <a:prstGeom prst="rect">
            <a:avLst/>
          </a:prstGeom>
          <a:noFill/>
        </p:spPr>
        <p:txBody>
          <a:bodyPr wrap="square">
            <a:spAutoFit/>
          </a:bodyPr>
          <a:lstStyle/>
          <a:p>
            <a:pPr algn="l"/>
            <a:r>
              <a:rPr sz="1400" b="1" i="0">
                <a:solidFill>
                  <a:srgbClr val="FFFFFF"/>
                </a:solidFill>
                <a:latin typeface="Calibri"/>
              </a:rPr>
              <a:t>Context</a:t>
            </a:r>
          </a:p>
        </p:txBody>
      </p:sp>
      <p:sp>
        <p:nvSpPr>
          <p:cNvPr id="10" name="TextBox 9"/>
          <p:cNvSpPr txBox="1"/>
          <p:nvPr/>
        </p:nvSpPr>
        <p:spPr>
          <a:xfrm>
            <a:off x="1751075" y="2258568"/>
            <a:ext cx="73152" cy="365760"/>
          </a:xfrm>
          <a:prstGeom prst="rect">
            <a:avLst/>
          </a:prstGeom>
          <a:noFill/>
        </p:spPr>
        <p:txBody>
          <a:bodyPr wrap="square">
            <a:spAutoFit/>
          </a:bodyPr>
          <a:lstStyle/>
          <a:p>
            <a:pPr algn="ctr"/>
            <a:r>
              <a:rPr sz="1600" b="1" i="0">
                <a:solidFill>
                  <a:srgbClr val="557A9A"/>
                </a:solidFill>
                <a:latin typeface="Calibri"/>
              </a:rPr>
              <a:t>›</a:t>
            </a:r>
          </a:p>
        </p:txBody>
      </p:sp>
      <p:sp>
        <p:nvSpPr>
          <p:cNvPr id="11" name="Rectangle 10"/>
          <p:cNvSpPr/>
          <p:nvPr/>
        </p:nvSpPr>
        <p:spPr>
          <a:xfrm>
            <a:off x="1796795" y="1874519"/>
            <a:ext cx="1335024" cy="114300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96795" y="1874519"/>
            <a:ext cx="1335024" cy="64008"/>
          </a:xfrm>
          <a:prstGeom prst="rect">
            <a:avLst/>
          </a:prstGeom>
          <a:solidFill>
            <a:srgbClr val="48C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88236" y="1965960"/>
            <a:ext cx="320040" cy="365760"/>
          </a:xfrm>
          <a:prstGeom prst="rect">
            <a:avLst/>
          </a:prstGeom>
          <a:noFill/>
        </p:spPr>
        <p:txBody>
          <a:bodyPr wrap="square">
            <a:spAutoFit/>
          </a:bodyPr>
          <a:lstStyle/>
          <a:p>
            <a:pPr algn="l"/>
            <a:r>
              <a:rPr sz="1300" b="1" i="0">
                <a:solidFill>
                  <a:srgbClr val="48CAE4"/>
                </a:solidFill>
                <a:latin typeface="Calibri"/>
              </a:rPr>
              <a:t>2</a:t>
            </a:r>
          </a:p>
        </p:txBody>
      </p:sp>
      <p:sp>
        <p:nvSpPr>
          <p:cNvPr id="14" name="TextBox 13"/>
          <p:cNvSpPr txBox="1"/>
          <p:nvPr/>
        </p:nvSpPr>
        <p:spPr>
          <a:xfrm>
            <a:off x="1888236" y="2313432"/>
            <a:ext cx="1197864" cy="658368"/>
          </a:xfrm>
          <a:prstGeom prst="rect">
            <a:avLst/>
          </a:prstGeom>
          <a:noFill/>
        </p:spPr>
        <p:txBody>
          <a:bodyPr wrap="square">
            <a:spAutoFit/>
          </a:bodyPr>
          <a:lstStyle/>
          <a:p>
            <a:pPr algn="l"/>
            <a:r>
              <a:rPr sz="1400" b="1" i="0">
                <a:solidFill>
                  <a:srgbClr val="FFFFFF"/>
                </a:solidFill>
                <a:latin typeface="Calibri"/>
              </a:rPr>
              <a:t>Cleaner</a:t>
            </a:r>
          </a:p>
        </p:txBody>
      </p:sp>
      <p:sp>
        <p:nvSpPr>
          <p:cNvPr id="15" name="TextBox 14"/>
          <p:cNvSpPr txBox="1"/>
          <p:nvPr/>
        </p:nvSpPr>
        <p:spPr>
          <a:xfrm>
            <a:off x="3136391" y="2258568"/>
            <a:ext cx="73152" cy="365760"/>
          </a:xfrm>
          <a:prstGeom prst="rect">
            <a:avLst/>
          </a:prstGeom>
          <a:noFill/>
        </p:spPr>
        <p:txBody>
          <a:bodyPr wrap="square">
            <a:spAutoFit/>
          </a:bodyPr>
          <a:lstStyle/>
          <a:p>
            <a:pPr algn="ctr"/>
            <a:r>
              <a:rPr sz="1600" b="1" i="0">
                <a:solidFill>
                  <a:srgbClr val="557A9A"/>
                </a:solidFill>
                <a:latin typeface="Calibri"/>
              </a:rPr>
              <a:t>›</a:t>
            </a:r>
          </a:p>
        </p:txBody>
      </p:sp>
      <p:sp>
        <p:nvSpPr>
          <p:cNvPr id="16" name="Rectangle 15"/>
          <p:cNvSpPr/>
          <p:nvPr/>
        </p:nvSpPr>
        <p:spPr>
          <a:xfrm>
            <a:off x="3182112" y="1874519"/>
            <a:ext cx="1335024" cy="114300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82112" y="1874519"/>
            <a:ext cx="1335024"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73552" y="1965960"/>
            <a:ext cx="320040" cy="365760"/>
          </a:xfrm>
          <a:prstGeom prst="rect">
            <a:avLst/>
          </a:prstGeom>
          <a:noFill/>
        </p:spPr>
        <p:txBody>
          <a:bodyPr wrap="square">
            <a:spAutoFit/>
          </a:bodyPr>
          <a:lstStyle/>
          <a:p>
            <a:pPr algn="l"/>
            <a:r>
              <a:rPr sz="1300" b="1" i="0">
                <a:solidFill>
                  <a:srgbClr val="00B4D8"/>
                </a:solidFill>
                <a:latin typeface="Calibri"/>
              </a:rPr>
              <a:t>3</a:t>
            </a:r>
          </a:p>
        </p:txBody>
      </p:sp>
      <p:sp>
        <p:nvSpPr>
          <p:cNvPr id="19" name="TextBox 18"/>
          <p:cNvSpPr txBox="1"/>
          <p:nvPr/>
        </p:nvSpPr>
        <p:spPr>
          <a:xfrm>
            <a:off x="3273552" y="2313432"/>
            <a:ext cx="1197864" cy="658368"/>
          </a:xfrm>
          <a:prstGeom prst="rect">
            <a:avLst/>
          </a:prstGeom>
          <a:noFill/>
        </p:spPr>
        <p:txBody>
          <a:bodyPr wrap="square">
            <a:spAutoFit/>
          </a:bodyPr>
          <a:lstStyle/>
          <a:p>
            <a:pPr algn="l"/>
            <a:r>
              <a:rPr sz="1400" b="1" i="0">
                <a:solidFill>
                  <a:srgbClr val="FFFFFF"/>
                </a:solidFill>
                <a:latin typeface="Calibri"/>
              </a:rPr>
              <a:t>Prompt
Engineer</a:t>
            </a:r>
          </a:p>
        </p:txBody>
      </p:sp>
      <p:sp>
        <p:nvSpPr>
          <p:cNvPr id="20" name="TextBox 19"/>
          <p:cNvSpPr txBox="1"/>
          <p:nvPr/>
        </p:nvSpPr>
        <p:spPr>
          <a:xfrm>
            <a:off x="4521707" y="2258568"/>
            <a:ext cx="73152" cy="365760"/>
          </a:xfrm>
          <a:prstGeom prst="rect">
            <a:avLst/>
          </a:prstGeom>
          <a:noFill/>
        </p:spPr>
        <p:txBody>
          <a:bodyPr wrap="square">
            <a:spAutoFit/>
          </a:bodyPr>
          <a:lstStyle/>
          <a:p>
            <a:pPr algn="ctr"/>
            <a:r>
              <a:rPr sz="1600" b="1" i="0">
                <a:solidFill>
                  <a:srgbClr val="557A9A"/>
                </a:solidFill>
                <a:latin typeface="Calibri"/>
              </a:rPr>
              <a:t>›</a:t>
            </a:r>
          </a:p>
        </p:txBody>
      </p:sp>
      <p:sp>
        <p:nvSpPr>
          <p:cNvPr id="21" name="Rectangle 20"/>
          <p:cNvSpPr/>
          <p:nvPr/>
        </p:nvSpPr>
        <p:spPr>
          <a:xfrm>
            <a:off x="4567428" y="1874519"/>
            <a:ext cx="1335024" cy="114300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67428" y="1874519"/>
            <a:ext cx="1335024" cy="64008"/>
          </a:xfrm>
          <a:prstGeom prst="rect">
            <a:avLst/>
          </a:prstGeom>
          <a:solidFill>
            <a:srgbClr val="48C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58868" y="1965960"/>
            <a:ext cx="320040" cy="365760"/>
          </a:xfrm>
          <a:prstGeom prst="rect">
            <a:avLst/>
          </a:prstGeom>
          <a:noFill/>
        </p:spPr>
        <p:txBody>
          <a:bodyPr wrap="square">
            <a:spAutoFit/>
          </a:bodyPr>
          <a:lstStyle/>
          <a:p>
            <a:pPr algn="l"/>
            <a:r>
              <a:rPr sz="1300" b="1" i="0">
                <a:solidFill>
                  <a:srgbClr val="48CAE4"/>
                </a:solidFill>
                <a:latin typeface="Calibri"/>
              </a:rPr>
              <a:t>4</a:t>
            </a:r>
          </a:p>
        </p:txBody>
      </p:sp>
      <p:sp>
        <p:nvSpPr>
          <p:cNvPr id="24" name="TextBox 23"/>
          <p:cNvSpPr txBox="1"/>
          <p:nvPr/>
        </p:nvSpPr>
        <p:spPr>
          <a:xfrm>
            <a:off x="4658868" y="2313432"/>
            <a:ext cx="1197864" cy="658368"/>
          </a:xfrm>
          <a:prstGeom prst="rect">
            <a:avLst/>
          </a:prstGeom>
          <a:noFill/>
        </p:spPr>
        <p:txBody>
          <a:bodyPr wrap="square">
            <a:spAutoFit/>
          </a:bodyPr>
          <a:lstStyle/>
          <a:p>
            <a:pPr algn="l"/>
            <a:r>
              <a:rPr sz="1400" b="1" i="0">
                <a:solidFill>
                  <a:srgbClr val="FFFFFF"/>
                </a:solidFill>
                <a:latin typeface="Calibri"/>
              </a:rPr>
              <a:t>Analyst</a:t>
            </a:r>
          </a:p>
        </p:txBody>
      </p:sp>
      <p:sp>
        <p:nvSpPr>
          <p:cNvPr id="25" name="TextBox 24"/>
          <p:cNvSpPr txBox="1"/>
          <p:nvPr/>
        </p:nvSpPr>
        <p:spPr>
          <a:xfrm>
            <a:off x="5907024" y="2258568"/>
            <a:ext cx="73152" cy="365760"/>
          </a:xfrm>
          <a:prstGeom prst="rect">
            <a:avLst/>
          </a:prstGeom>
          <a:noFill/>
        </p:spPr>
        <p:txBody>
          <a:bodyPr wrap="square">
            <a:spAutoFit/>
          </a:bodyPr>
          <a:lstStyle/>
          <a:p>
            <a:pPr algn="ctr"/>
            <a:r>
              <a:rPr sz="1600" b="1" i="0">
                <a:solidFill>
                  <a:srgbClr val="557A9A"/>
                </a:solidFill>
                <a:latin typeface="Calibri"/>
              </a:rPr>
              <a:t>›</a:t>
            </a:r>
          </a:p>
        </p:txBody>
      </p:sp>
      <p:sp>
        <p:nvSpPr>
          <p:cNvPr id="26" name="Rectangle 25"/>
          <p:cNvSpPr/>
          <p:nvPr/>
        </p:nvSpPr>
        <p:spPr>
          <a:xfrm>
            <a:off x="5952744" y="1874519"/>
            <a:ext cx="1335024" cy="114300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952744" y="1874519"/>
            <a:ext cx="1335024"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44183" y="1965960"/>
            <a:ext cx="320040" cy="365760"/>
          </a:xfrm>
          <a:prstGeom prst="rect">
            <a:avLst/>
          </a:prstGeom>
          <a:noFill/>
        </p:spPr>
        <p:txBody>
          <a:bodyPr wrap="square">
            <a:spAutoFit/>
          </a:bodyPr>
          <a:lstStyle/>
          <a:p>
            <a:pPr algn="l"/>
            <a:r>
              <a:rPr sz="1300" b="1" i="0">
                <a:solidFill>
                  <a:srgbClr val="00B4D8"/>
                </a:solidFill>
                <a:latin typeface="Calibri"/>
              </a:rPr>
              <a:t>5</a:t>
            </a:r>
          </a:p>
        </p:txBody>
      </p:sp>
      <p:sp>
        <p:nvSpPr>
          <p:cNvPr id="29" name="TextBox 28"/>
          <p:cNvSpPr txBox="1"/>
          <p:nvPr/>
        </p:nvSpPr>
        <p:spPr>
          <a:xfrm>
            <a:off x="6044183" y="2313432"/>
            <a:ext cx="1197864" cy="658368"/>
          </a:xfrm>
          <a:prstGeom prst="rect">
            <a:avLst/>
          </a:prstGeom>
          <a:noFill/>
        </p:spPr>
        <p:txBody>
          <a:bodyPr wrap="square">
            <a:spAutoFit/>
          </a:bodyPr>
          <a:lstStyle/>
          <a:p>
            <a:pPr algn="l"/>
            <a:r>
              <a:rPr sz="1400" b="1" i="0">
                <a:solidFill>
                  <a:srgbClr val="FFFFFF"/>
                </a:solidFill>
                <a:latin typeface="Calibri"/>
              </a:rPr>
              <a:t>Sports
Scientist</a:t>
            </a:r>
          </a:p>
        </p:txBody>
      </p:sp>
      <p:sp>
        <p:nvSpPr>
          <p:cNvPr id="30" name="TextBox 29"/>
          <p:cNvSpPr txBox="1"/>
          <p:nvPr/>
        </p:nvSpPr>
        <p:spPr>
          <a:xfrm>
            <a:off x="7292340" y="2258568"/>
            <a:ext cx="73152" cy="365760"/>
          </a:xfrm>
          <a:prstGeom prst="rect">
            <a:avLst/>
          </a:prstGeom>
          <a:noFill/>
        </p:spPr>
        <p:txBody>
          <a:bodyPr wrap="square">
            <a:spAutoFit/>
          </a:bodyPr>
          <a:lstStyle/>
          <a:p>
            <a:pPr algn="ctr"/>
            <a:r>
              <a:rPr sz="1600" b="1" i="0">
                <a:solidFill>
                  <a:srgbClr val="557A9A"/>
                </a:solidFill>
                <a:latin typeface="Calibri"/>
              </a:rPr>
              <a:t>›</a:t>
            </a:r>
          </a:p>
        </p:txBody>
      </p:sp>
      <p:sp>
        <p:nvSpPr>
          <p:cNvPr id="31" name="Rectangle 30"/>
          <p:cNvSpPr/>
          <p:nvPr/>
        </p:nvSpPr>
        <p:spPr>
          <a:xfrm>
            <a:off x="7338059" y="1874519"/>
            <a:ext cx="1335024" cy="114300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38059" y="1874519"/>
            <a:ext cx="1335024" cy="64008"/>
          </a:xfrm>
          <a:prstGeom prst="rect">
            <a:avLst/>
          </a:prstGeom>
          <a:solidFill>
            <a:srgbClr val="48C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29499" y="1965960"/>
            <a:ext cx="320040" cy="365760"/>
          </a:xfrm>
          <a:prstGeom prst="rect">
            <a:avLst/>
          </a:prstGeom>
          <a:noFill/>
        </p:spPr>
        <p:txBody>
          <a:bodyPr wrap="square">
            <a:spAutoFit/>
          </a:bodyPr>
          <a:lstStyle/>
          <a:p>
            <a:pPr algn="l"/>
            <a:r>
              <a:rPr sz="1300" b="1" i="0">
                <a:solidFill>
                  <a:srgbClr val="48CAE4"/>
                </a:solidFill>
                <a:latin typeface="Calibri"/>
              </a:rPr>
              <a:t>6</a:t>
            </a:r>
          </a:p>
        </p:txBody>
      </p:sp>
      <p:sp>
        <p:nvSpPr>
          <p:cNvPr id="34" name="TextBox 33"/>
          <p:cNvSpPr txBox="1"/>
          <p:nvPr/>
        </p:nvSpPr>
        <p:spPr>
          <a:xfrm>
            <a:off x="7429499" y="2313432"/>
            <a:ext cx="1197864" cy="658368"/>
          </a:xfrm>
          <a:prstGeom prst="rect">
            <a:avLst/>
          </a:prstGeom>
          <a:noFill/>
        </p:spPr>
        <p:txBody>
          <a:bodyPr wrap="square">
            <a:spAutoFit/>
          </a:bodyPr>
          <a:lstStyle/>
          <a:p>
            <a:pPr algn="l"/>
            <a:r>
              <a:rPr sz="1400" b="1" i="0">
                <a:solidFill>
                  <a:srgbClr val="FFFFFF"/>
                </a:solidFill>
                <a:latin typeface="Calibri"/>
              </a:rPr>
              <a:t>Trend
Analyzer</a:t>
            </a:r>
          </a:p>
        </p:txBody>
      </p:sp>
      <p:sp>
        <p:nvSpPr>
          <p:cNvPr id="35" name="TextBox 34"/>
          <p:cNvSpPr txBox="1"/>
          <p:nvPr/>
        </p:nvSpPr>
        <p:spPr>
          <a:xfrm>
            <a:off x="8677656" y="2258568"/>
            <a:ext cx="73152" cy="365760"/>
          </a:xfrm>
          <a:prstGeom prst="rect">
            <a:avLst/>
          </a:prstGeom>
          <a:noFill/>
        </p:spPr>
        <p:txBody>
          <a:bodyPr wrap="square">
            <a:spAutoFit/>
          </a:bodyPr>
          <a:lstStyle/>
          <a:p>
            <a:pPr algn="ctr"/>
            <a:r>
              <a:rPr sz="1600" b="1" i="0">
                <a:solidFill>
                  <a:srgbClr val="557A9A"/>
                </a:solidFill>
                <a:latin typeface="Calibri"/>
              </a:rPr>
              <a:t>›</a:t>
            </a:r>
          </a:p>
        </p:txBody>
      </p:sp>
      <p:sp>
        <p:nvSpPr>
          <p:cNvPr id="36" name="Rectangle 35"/>
          <p:cNvSpPr/>
          <p:nvPr/>
        </p:nvSpPr>
        <p:spPr>
          <a:xfrm>
            <a:off x="8723376" y="1874519"/>
            <a:ext cx="1335024" cy="114300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723376" y="1874519"/>
            <a:ext cx="1335024"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14815" y="1965960"/>
            <a:ext cx="320040" cy="365760"/>
          </a:xfrm>
          <a:prstGeom prst="rect">
            <a:avLst/>
          </a:prstGeom>
          <a:noFill/>
        </p:spPr>
        <p:txBody>
          <a:bodyPr wrap="square">
            <a:spAutoFit/>
          </a:bodyPr>
          <a:lstStyle/>
          <a:p>
            <a:pPr algn="l"/>
            <a:r>
              <a:rPr sz="1300" b="1" i="0">
                <a:solidFill>
                  <a:srgbClr val="00B4D8"/>
                </a:solidFill>
                <a:latin typeface="Calibri"/>
              </a:rPr>
              <a:t>7</a:t>
            </a:r>
          </a:p>
        </p:txBody>
      </p:sp>
      <p:sp>
        <p:nvSpPr>
          <p:cNvPr id="39" name="TextBox 38"/>
          <p:cNvSpPr txBox="1"/>
          <p:nvPr/>
        </p:nvSpPr>
        <p:spPr>
          <a:xfrm>
            <a:off x="8814815" y="2313432"/>
            <a:ext cx="1197864" cy="658368"/>
          </a:xfrm>
          <a:prstGeom prst="rect">
            <a:avLst/>
          </a:prstGeom>
          <a:noFill/>
        </p:spPr>
        <p:txBody>
          <a:bodyPr wrap="square">
            <a:spAutoFit/>
          </a:bodyPr>
          <a:lstStyle/>
          <a:p>
            <a:pPr algn="l"/>
            <a:r>
              <a:rPr sz="1400" b="1" i="0">
                <a:solidFill>
                  <a:srgbClr val="FFFFFF"/>
                </a:solidFill>
                <a:latin typeface="Calibri"/>
              </a:rPr>
              <a:t>Formatter</a:t>
            </a:r>
          </a:p>
        </p:txBody>
      </p:sp>
      <p:sp>
        <p:nvSpPr>
          <p:cNvPr id="40" name="TextBox 39"/>
          <p:cNvSpPr txBox="1"/>
          <p:nvPr/>
        </p:nvSpPr>
        <p:spPr>
          <a:xfrm>
            <a:off x="10062972" y="2258568"/>
            <a:ext cx="73152" cy="365760"/>
          </a:xfrm>
          <a:prstGeom prst="rect">
            <a:avLst/>
          </a:prstGeom>
          <a:noFill/>
        </p:spPr>
        <p:txBody>
          <a:bodyPr wrap="square">
            <a:spAutoFit/>
          </a:bodyPr>
          <a:lstStyle/>
          <a:p>
            <a:pPr algn="ctr"/>
            <a:r>
              <a:rPr sz="1600" b="1" i="0">
                <a:solidFill>
                  <a:srgbClr val="557A9A"/>
                </a:solidFill>
                <a:latin typeface="Calibri"/>
              </a:rPr>
              <a:t>›</a:t>
            </a:r>
          </a:p>
        </p:txBody>
      </p:sp>
      <p:sp>
        <p:nvSpPr>
          <p:cNvPr id="41" name="Rectangle 40"/>
          <p:cNvSpPr/>
          <p:nvPr/>
        </p:nvSpPr>
        <p:spPr>
          <a:xfrm>
            <a:off x="10108691" y="1874519"/>
            <a:ext cx="1335024" cy="114300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08691" y="1874519"/>
            <a:ext cx="1335024" cy="64008"/>
          </a:xfrm>
          <a:prstGeom prst="rect">
            <a:avLst/>
          </a:prstGeom>
          <a:solidFill>
            <a:srgbClr val="48C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00131" y="1965960"/>
            <a:ext cx="320040" cy="365760"/>
          </a:xfrm>
          <a:prstGeom prst="rect">
            <a:avLst/>
          </a:prstGeom>
          <a:noFill/>
        </p:spPr>
        <p:txBody>
          <a:bodyPr wrap="square">
            <a:spAutoFit/>
          </a:bodyPr>
          <a:lstStyle/>
          <a:p>
            <a:pPr algn="l"/>
            <a:r>
              <a:rPr sz="1300" b="1" i="0">
                <a:solidFill>
                  <a:srgbClr val="48CAE4"/>
                </a:solidFill>
                <a:latin typeface="Calibri"/>
              </a:rPr>
              <a:t>8</a:t>
            </a:r>
          </a:p>
        </p:txBody>
      </p:sp>
      <p:sp>
        <p:nvSpPr>
          <p:cNvPr id="44" name="TextBox 43"/>
          <p:cNvSpPr txBox="1"/>
          <p:nvPr/>
        </p:nvSpPr>
        <p:spPr>
          <a:xfrm>
            <a:off x="10200131" y="2313432"/>
            <a:ext cx="1197864" cy="658368"/>
          </a:xfrm>
          <a:prstGeom prst="rect">
            <a:avLst/>
          </a:prstGeom>
          <a:noFill/>
        </p:spPr>
        <p:txBody>
          <a:bodyPr wrap="square">
            <a:spAutoFit/>
          </a:bodyPr>
          <a:lstStyle/>
          <a:p>
            <a:pPr algn="l"/>
            <a:r>
              <a:rPr sz="1400" b="1" i="0">
                <a:solidFill>
                  <a:srgbClr val="FFFFFF"/>
                </a:solidFill>
                <a:latin typeface="Calibri"/>
              </a:rPr>
              <a:t>QA Critic</a:t>
            </a:r>
          </a:p>
        </p:txBody>
      </p:sp>
      <p:sp>
        <p:nvSpPr>
          <p:cNvPr id="45" name="TextBox 44"/>
          <p:cNvSpPr txBox="1"/>
          <p:nvPr/>
        </p:nvSpPr>
        <p:spPr>
          <a:xfrm>
            <a:off x="411480" y="3291840"/>
            <a:ext cx="9144000" cy="411480"/>
          </a:xfrm>
          <a:prstGeom prst="rect">
            <a:avLst/>
          </a:prstGeom>
          <a:noFill/>
        </p:spPr>
        <p:txBody>
          <a:bodyPr wrap="square">
            <a:spAutoFit/>
          </a:bodyPr>
          <a:lstStyle/>
          <a:p>
            <a:pPr algn="l"/>
            <a:r>
              <a:rPr sz="1200" b="1" i="0">
                <a:solidFill>
                  <a:srgbClr val="00B4D8"/>
                </a:solidFill>
                <a:latin typeface="Calibri"/>
              </a:rPr>
              <a:t>STACK</a:t>
            </a:r>
          </a:p>
        </p:txBody>
      </p:sp>
      <p:sp>
        <p:nvSpPr>
          <p:cNvPr id="46" name="Rectangle 45"/>
          <p:cNvSpPr/>
          <p:nvPr/>
        </p:nvSpPr>
        <p:spPr>
          <a:xfrm>
            <a:off x="411480" y="3703320"/>
            <a:ext cx="2788920" cy="96012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11480" y="3703320"/>
            <a:ext cx="2788920" cy="5943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8640" y="3813048"/>
            <a:ext cx="2468880" cy="365760"/>
          </a:xfrm>
          <a:prstGeom prst="rect">
            <a:avLst/>
          </a:prstGeom>
          <a:noFill/>
        </p:spPr>
        <p:txBody>
          <a:bodyPr wrap="square">
            <a:spAutoFit/>
          </a:bodyPr>
          <a:lstStyle/>
          <a:p>
            <a:pPr algn="l"/>
            <a:r>
              <a:rPr sz="1300" b="1" i="0">
                <a:solidFill>
                  <a:srgbClr val="48CAE4"/>
                </a:solidFill>
                <a:latin typeface="Calibri"/>
              </a:rPr>
              <a:t>Frontend</a:t>
            </a:r>
          </a:p>
        </p:txBody>
      </p:sp>
      <p:sp>
        <p:nvSpPr>
          <p:cNvPr id="49" name="TextBox 48"/>
          <p:cNvSpPr txBox="1"/>
          <p:nvPr/>
        </p:nvSpPr>
        <p:spPr>
          <a:xfrm>
            <a:off x="548640" y="4160520"/>
            <a:ext cx="2560320" cy="502920"/>
          </a:xfrm>
          <a:prstGeom prst="rect">
            <a:avLst/>
          </a:prstGeom>
          <a:noFill/>
        </p:spPr>
        <p:txBody>
          <a:bodyPr wrap="square">
            <a:spAutoFit/>
          </a:bodyPr>
          <a:lstStyle/>
          <a:p>
            <a:pPr algn="l"/>
            <a:r>
              <a:rPr sz="1200" b="0" i="0">
                <a:solidFill>
                  <a:srgbClr val="B0CEE6"/>
                </a:solidFill>
                <a:latin typeface="Calibri"/>
              </a:rPr>
              <a:t>React 19 · Vite · Clerk Auth · Chart.js · Leaflet · PWA</a:t>
            </a:r>
          </a:p>
        </p:txBody>
      </p:sp>
      <p:sp>
        <p:nvSpPr>
          <p:cNvPr id="50" name="Rectangle 49"/>
          <p:cNvSpPr/>
          <p:nvPr/>
        </p:nvSpPr>
        <p:spPr>
          <a:xfrm>
            <a:off x="3355848" y="3703320"/>
            <a:ext cx="2788920" cy="96012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355848" y="3703320"/>
            <a:ext cx="2788920" cy="5943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93008" y="3813048"/>
            <a:ext cx="2468880" cy="365760"/>
          </a:xfrm>
          <a:prstGeom prst="rect">
            <a:avLst/>
          </a:prstGeom>
          <a:noFill/>
        </p:spPr>
        <p:txBody>
          <a:bodyPr wrap="square">
            <a:spAutoFit/>
          </a:bodyPr>
          <a:lstStyle/>
          <a:p>
            <a:pPr algn="l"/>
            <a:r>
              <a:rPr sz="1300" b="1" i="0">
                <a:solidFill>
                  <a:srgbClr val="48CAE4"/>
                </a:solidFill>
                <a:latin typeface="Calibri"/>
              </a:rPr>
              <a:t>Backend</a:t>
            </a:r>
          </a:p>
        </p:txBody>
      </p:sp>
      <p:sp>
        <p:nvSpPr>
          <p:cNvPr id="53" name="TextBox 52"/>
          <p:cNvSpPr txBox="1"/>
          <p:nvPr/>
        </p:nvSpPr>
        <p:spPr>
          <a:xfrm>
            <a:off x="3493008" y="4160520"/>
            <a:ext cx="2560320" cy="502920"/>
          </a:xfrm>
          <a:prstGeom prst="rect">
            <a:avLst/>
          </a:prstGeom>
          <a:noFill/>
        </p:spPr>
        <p:txBody>
          <a:bodyPr wrap="square">
            <a:spAutoFit/>
          </a:bodyPr>
          <a:lstStyle/>
          <a:p>
            <a:pPr algn="l"/>
            <a:r>
              <a:rPr sz="1200" b="0" i="0">
                <a:solidFill>
                  <a:srgbClr val="B0CEE6"/>
                </a:solidFill>
                <a:latin typeface="Calibri"/>
              </a:rPr>
              <a:t>FastAPI on Vercel (always-on, free) · Supabase Postgres + RLS</a:t>
            </a:r>
          </a:p>
        </p:txBody>
      </p:sp>
      <p:sp>
        <p:nvSpPr>
          <p:cNvPr id="54" name="Rectangle 53"/>
          <p:cNvSpPr/>
          <p:nvPr/>
        </p:nvSpPr>
        <p:spPr>
          <a:xfrm>
            <a:off x="6300216" y="3703320"/>
            <a:ext cx="2788920" cy="96012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300216" y="3703320"/>
            <a:ext cx="2788920" cy="5943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37376" y="3813048"/>
            <a:ext cx="2468880" cy="365760"/>
          </a:xfrm>
          <a:prstGeom prst="rect">
            <a:avLst/>
          </a:prstGeom>
          <a:noFill/>
        </p:spPr>
        <p:txBody>
          <a:bodyPr wrap="square">
            <a:spAutoFit/>
          </a:bodyPr>
          <a:lstStyle/>
          <a:p>
            <a:pPr algn="l"/>
            <a:r>
              <a:rPr sz="1300" b="1" i="0">
                <a:solidFill>
                  <a:srgbClr val="48CAE4"/>
                </a:solidFill>
                <a:latin typeface="Calibri"/>
              </a:rPr>
              <a:t>AI — Heavy</a:t>
            </a:r>
          </a:p>
        </p:txBody>
      </p:sp>
      <p:sp>
        <p:nvSpPr>
          <p:cNvPr id="57" name="TextBox 56"/>
          <p:cNvSpPr txBox="1"/>
          <p:nvPr/>
        </p:nvSpPr>
        <p:spPr>
          <a:xfrm>
            <a:off x="6437376" y="4160520"/>
            <a:ext cx="2560320" cy="502920"/>
          </a:xfrm>
          <a:prstGeom prst="rect">
            <a:avLst/>
          </a:prstGeom>
          <a:noFill/>
        </p:spPr>
        <p:txBody>
          <a:bodyPr wrap="square">
            <a:spAutoFit/>
          </a:bodyPr>
          <a:lstStyle/>
          <a:p>
            <a:pPr algn="l"/>
            <a:r>
              <a:rPr sz="1200" b="0" i="0">
                <a:solidFill>
                  <a:srgbClr val="B0CEE6"/>
                </a:solidFill>
                <a:latin typeface="Calibri"/>
              </a:rPr>
              <a:t>CrewAI · litellm · Groq + OpenRouter free pool · HuggingFace Space</a:t>
            </a:r>
          </a:p>
        </p:txBody>
      </p:sp>
      <p:sp>
        <p:nvSpPr>
          <p:cNvPr id="58" name="Rectangle 57"/>
          <p:cNvSpPr/>
          <p:nvPr/>
        </p:nvSpPr>
        <p:spPr>
          <a:xfrm>
            <a:off x="9244584" y="3703320"/>
            <a:ext cx="2788920" cy="96012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244584" y="3703320"/>
            <a:ext cx="2788920" cy="5943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381744" y="3813048"/>
            <a:ext cx="2468880" cy="365760"/>
          </a:xfrm>
          <a:prstGeom prst="rect">
            <a:avLst/>
          </a:prstGeom>
          <a:noFill/>
        </p:spPr>
        <p:txBody>
          <a:bodyPr wrap="square">
            <a:spAutoFit/>
          </a:bodyPr>
          <a:lstStyle/>
          <a:p>
            <a:pPr algn="l"/>
            <a:r>
              <a:rPr sz="1300" b="1" i="0">
                <a:solidFill>
                  <a:srgbClr val="48CAE4"/>
                </a:solidFill>
                <a:latin typeface="Calibri"/>
              </a:rPr>
              <a:t>AI — Light</a:t>
            </a:r>
          </a:p>
        </p:txBody>
      </p:sp>
      <p:sp>
        <p:nvSpPr>
          <p:cNvPr id="61" name="TextBox 60"/>
          <p:cNvSpPr txBox="1"/>
          <p:nvPr/>
        </p:nvSpPr>
        <p:spPr>
          <a:xfrm>
            <a:off x="9381744" y="4160520"/>
            <a:ext cx="2560320" cy="502920"/>
          </a:xfrm>
          <a:prstGeom prst="rect">
            <a:avLst/>
          </a:prstGeom>
          <a:noFill/>
        </p:spPr>
        <p:txBody>
          <a:bodyPr wrap="square">
            <a:spAutoFit/>
          </a:bodyPr>
          <a:lstStyle/>
          <a:p>
            <a:pPr algn="l"/>
            <a:r>
              <a:rPr sz="1200" b="0" i="0">
                <a:solidFill>
                  <a:srgbClr val="B0CEE6"/>
                </a:solidFill>
                <a:latin typeface="Calibri"/>
              </a:rPr>
              <a:t>llm_lite.py: multi-model failover · 200 calls/user/day guardrail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9144000" cy="411480"/>
          </a:xfrm>
          <a:prstGeom prst="rect">
            <a:avLst/>
          </a:prstGeom>
          <a:noFill/>
        </p:spPr>
        <p:txBody>
          <a:bodyPr wrap="square">
            <a:spAutoFit/>
          </a:bodyPr>
          <a:lstStyle/>
          <a:p>
            <a:pPr algn="l"/>
            <a:r>
              <a:rPr sz="1200" b="1" i="0">
                <a:solidFill>
                  <a:srgbClr val="00B4D8"/>
                </a:solidFill>
                <a:latin typeface="Calibri"/>
              </a:rPr>
              <a:t>IMPACT</a:t>
            </a:r>
          </a:p>
        </p:txBody>
      </p:sp>
      <p:sp>
        <p:nvSpPr>
          <p:cNvPr id="4" name="TextBox 3"/>
          <p:cNvSpPr txBox="1"/>
          <p:nvPr/>
        </p:nvSpPr>
        <p:spPr>
          <a:xfrm>
            <a:off x="411480" y="777240"/>
            <a:ext cx="10058400" cy="822960"/>
          </a:xfrm>
          <a:prstGeom prst="rect">
            <a:avLst/>
          </a:prstGeom>
          <a:noFill/>
        </p:spPr>
        <p:txBody>
          <a:bodyPr wrap="square">
            <a:spAutoFit/>
          </a:bodyPr>
          <a:lstStyle/>
          <a:p>
            <a:pPr algn="l"/>
            <a:r>
              <a:rPr sz="4000" b="1" i="0">
                <a:solidFill>
                  <a:srgbClr val="FFFFFF"/>
                </a:solidFill>
                <a:latin typeface="Calibri"/>
              </a:rPr>
              <a:t>Big problem. Free solution. Ready now.</a:t>
            </a:r>
          </a:p>
        </p:txBody>
      </p:sp>
      <p:sp>
        <p:nvSpPr>
          <p:cNvPr id="5" name="Rectangle 4"/>
          <p:cNvSpPr/>
          <p:nvPr/>
        </p:nvSpPr>
        <p:spPr>
          <a:xfrm>
            <a:off x="411480" y="1737360"/>
            <a:ext cx="1828800" cy="5029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2011680"/>
            <a:ext cx="5486400" cy="192024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2011680"/>
            <a:ext cx="5486400"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94560"/>
            <a:ext cx="5029200" cy="868680"/>
          </a:xfrm>
          <a:prstGeom prst="rect">
            <a:avLst/>
          </a:prstGeom>
          <a:noFill/>
        </p:spPr>
        <p:txBody>
          <a:bodyPr wrap="square">
            <a:spAutoFit/>
          </a:bodyPr>
          <a:lstStyle/>
          <a:p>
            <a:pPr algn="l"/>
            <a:r>
              <a:rPr sz="4400" b="1" i="0">
                <a:solidFill>
                  <a:srgbClr val="00B4D8"/>
                </a:solidFill>
                <a:latin typeface="Calibri"/>
              </a:rPr>
              <a:t>1 billion+</a:t>
            </a:r>
          </a:p>
        </p:txBody>
      </p:sp>
      <p:sp>
        <p:nvSpPr>
          <p:cNvPr id="9" name="TextBox 8"/>
          <p:cNvSpPr txBox="1"/>
          <p:nvPr/>
        </p:nvSpPr>
        <p:spPr>
          <a:xfrm>
            <a:off x="640080" y="3063240"/>
            <a:ext cx="5029200" cy="777240"/>
          </a:xfrm>
          <a:prstGeom prst="rect">
            <a:avLst/>
          </a:prstGeom>
          <a:noFill/>
        </p:spPr>
        <p:txBody>
          <a:bodyPr wrap="square">
            <a:spAutoFit/>
          </a:bodyPr>
          <a:lstStyle/>
          <a:p>
            <a:pPr algn="l"/>
            <a:r>
              <a:rPr sz="1800" b="0" i="0">
                <a:solidFill>
                  <a:srgbClr val="B0CEE6"/>
                </a:solidFill>
                <a:latin typeface="Calibri"/>
              </a:rPr>
              <a:t>people own wearables
with siloed, unanalyzed data</a:t>
            </a:r>
          </a:p>
        </p:txBody>
      </p:sp>
      <p:sp>
        <p:nvSpPr>
          <p:cNvPr id="10" name="Rectangle 9"/>
          <p:cNvSpPr/>
          <p:nvPr/>
        </p:nvSpPr>
        <p:spPr>
          <a:xfrm>
            <a:off x="6355080" y="2011680"/>
            <a:ext cx="5486400" cy="192024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2011680"/>
            <a:ext cx="5486400"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194560"/>
            <a:ext cx="5029200" cy="868680"/>
          </a:xfrm>
          <a:prstGeom prst="rect">
            <a:avLst/>
          </a:prstGeom>
          <a:noFill/>
        </p:spPr>
        <p:txBody>
          <a:bodyPr wrap="square">
            <a:spAutoFit/>
          </a:bodyPr>
          <a:lstStyle/>
          <a:p>
            <a:pPr algn="l"/>
            <a:r>
              <a:rPr sz="4400" b="1" i="0">
                <a:solidFill>
                  <a:srgbClr val="00B4D8"/>
                </a:solidFill>
                <a:latin typeface="Calibri"/>
              </a:rPr>
              <a:t>$0</a:t>
            </a:r>
          </a:p>
        </p:txBody>
      </p:sp>
      <p:sp>
        <p:nvSpPr>
          <p:cNvPr id="13" name="TextBox 12"/>
          <p:cNvSpPr txBox="1"/>
          <p:nvPr/>
        </p:nvSpPr>
        <p:spPr>
          <a:xfrm>
            <a:off x="6583680" y="3063240"/>
            <a:ext cx="5029200" cy="777240"/>
          </a:xfrm>
          <a:prstGeom prst="rect">
            <a:avLst/>
          </a:prstGeom>
          <a:noFill/>
        </p:spPr>
        <p:txBody>
          <a:bodyPr wrap="square">
            <a:spAutoFit/>
          </a:bodyPr>
          <a:lstStyle/>
          <a:p>
            <a:pPr algn="l"/>
            <a:r>
              <a:rPr sz="1800" b="0" i="0">
                <a:solidFill>
                  <a:srgbClr val="B0CEE6"/>
                </a:solidFill>
                <a:latin typeface="Calibri"/>
              </a:rPr>
              <a:t>cost to the user
vs. $15–300/mo for alternatives</a:t>
            </a:r>
          </a:p>
        </p:txBody>
      </p:sp>
      <p:sp>
        <p:nvSpPr>
          <p:cNvPr id="14" name="Rectangle 13"/>
          <p:cNvSpPr/>
          <p:nvPr/>
        </p:nvSpPr>
        <p:spPr>
          <a:xfrm>
            <a:off x="411480" y="4251960"/>
            <a:ext cx="5486400" cy="192024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4251960"/>
            <a:ext cx="5486400"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434840"/>
            <a:ext cx="5029200" cy="868680"/>
          </a:xfrm>
          <a:prstGeom prst="rect">
            <a:avLst/>
          </a:prstGeom>
          <a:noFill/>
        </p:spPr>
        <p:txBody>
          <a:bodyPr wrap="square">
            <a:spAutoFit/>
          </a:bodyPr>
          <a:lstStyle/>
          <a:p>
            <a:pPr algn="l"/>
            <a:r>
              <a:rPr sz="4400" b="1" i="0">
                <a:solidFill>
                  <a:srgbClr val="00B4D8"/>
                </a:solidFill>
                <a:latin typeface="Calibri"/>
              </a:rPr>
              <a:t>13+ sources</a:t>
            </a:r>
          </a:p>
        </p:txBody>
      </p:sp>
      <p:sp>
        <p:nvSpPr>
          <p:cNvPr id="17" name="TextBox 16"/>
          <p:cNvSpPr txBox="1"/>
          <p:nvPr/>
        </p:nvSpPr>
        <p:spPr>
          <a:xfrm>
            <a:off x="640080" y="5303520"/>
            <a:ext cx="5029200" cy="777240"/>
          </a:xfrm>
          <a:prstGeom prst="rect">
            <a:avLst/>
          </a:prstGeom>
          <a:noFill/>
        </p:spPr>
        <p:txBody>
          <a:bodyPr wrap="square">
            <a:spAutoFit/>
          </a:bodyPr>
          <a:lstStyle/>
          <a:p>
            <a:pPr algn="l"/>
            <a:r>
              <a:rPr sz="1800" b="0" i="0">
                <a:solidFill>
                  <a:srgbClr val="B0CEE6"/>
                </a:solidFill>
                <a:latin typeface="Calibri"/>
              </a:rPr>
              <a:t>import at launch
no new hardware required</a:t>
            </a:r>
          </a:p>
        </p:txBody>
      </p:sp>
      <p:sp>
        <p:nvSpPr>
          <p:cNvPr id="18" name="Rectangle 17"/>
          <p:cNvSpPr/>
          <p:nvPr/>
        </p:nvSpPr>
        <p:spPr>
          <a:xfrm>
            <a:off x="6355080" y="4251960"/>
            <a:ext cx="5486400" cy="192024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55080" y="4251960"/>
            <a:ext cx="5486400"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4434840"/>
            <a:ext cx="5029200" cy="868680"/>
          </a:xfrm>
          <a:prstGeom prst="rect">
            <a:avLst/>
          </a:prstGeom>
          <a:noFill/>
        </p:spPr>
        <p:txBody>
          <a:bodyPr wrap="square">
            <a:spAutoFit/>
          </a:bodyPr>
          <a:lstStyle/>
          <a:p>
            <a:pPr algn="l"/>
            <a:r>
              <a:rPr sz="4400" b="1" i="0">
                <a:solidFill>
                  <a:srgbClr val="00B4D8"/>
                </a:solidFill>
                <a:latin typeface="Calibri"/>
              </a:rPr>
              <a:t>100% live</a:t>
            </a:r>
          </a:p>
        </p:txBody>
      </p:sp>
      <p:sp>
        <p:nvSpPr>
          <p:cNvPr id="21" name="TextBox 20"/>
          <p:cNvSpPr txBox="1"/>
          <p:nvPr/>
        </p:nvSpPr>
        <p:spPr>
          <a:xfrm>
            <a:off x="6583680" y="5303520"/>
            <a:ext cx="5029200" cy="777240"/>
          </a:xfrm>
          <a:prstGeom prst="rect">
            <a:avLst/>
          </a:prstGeom>
          <a:noFill/>
        </p:spPr>
        <p:txBody>
          <a:bodyPr wrap="square">
            <a:spAutoFit/>
          </a:bodyPr>
          <a:lstStyle/>
          <a:p>
            <a:pPr algn="l"/>
            <a:r>
              <a:rPr sz="1800" b="0" i="0">
                <a:solidFill>
                  <a:srgbClr val="B0CEE6"/>
                </a:solidFill>
                <a:latin typeface="Calibri"/>
              </a:rPr>
              <a:t>deployed today at
fitness-ai-agents.vercel.app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0" y="0"/>
            <a:ext cx="5971032" cy="685800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17920" y="0"/>
            <a:ext cx="5029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371600"/>
            <a:ext cx="5486400" cy="1005840"/>
          </a:xfrm>
          <a:prstGeom prst="rect">
            <a:avLst/>
          </a:prstGeom>
          <a:noFill/>
        </p:spPr>
        <p:txBody>
          <a:bodyPr wrap="square">
            <a:spAutoFit/>
          </a:bodyPr>
          <a:lstStyle/>
          <a:p>
            <a:pPr algn="l"/>
            <a:r>
              <a:rPr sz="4200" b="1" i="0">
                <a:solidFill>
                  <a:srgbClr val="FFFFFF"/>
                </a:solidFill>
                <a:latin typeface="Calibri"/>
              </a:rPr>
              <a:t>FITNESS AI AGENTS</a:t>
            </a:r>
          </a:p>
        </p:txBody>
      </p:sp>
      <p:sp>
        <p:nvSpPr>
          <p:cNvPr id="6" name="Rectangle 5"/>
          <p:cNvSpPr/>
          <p:nvPr/>
        </p:nvSpPr>
        <p:spPr>
          <a:xfrm>
            <a:off x="411480" y="2542032"/>
            <a:ext cx="2286000" cy="5029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2697480"/>
            <a:ext cx="5486400" cy="1371600"/>
          </a:xfrm>
          <a:prstGeom prst="rect">
            <a:avLst/>
          </a:prstGeom>
          <a:noFill/>
        </p:spPr>
        <p:txBody>
          <a:bodyPr wrap="square">
            <a:spAutoFit/>
          </a:bodyPr>
          <a:lstStyle/>
          <a:p>
            <a:pPr algn="l"/>
            <a:r>
              <a:rPr sz="2200" b="0" i="0">
                <a:solidFill>
                  <a:srgbClr val="48CAE4"/>
                </a:solidFill>
                <a:latin typeface="Calibri"/>
              </a:rPr>
              <a:t>Any data. Any device.
AI that trains you smarter.
Free. Live. Now.</a:t>
            </a:r>
          </a:p>
        </p:txBody>
      </p:sp>
      <p:sp>
        <p:nvSpPr>
          <p:cNvPr id="8" name="TextBox 7"/>
          <p:cNvSpPr txBox="1"/>
          <p:nvPr/>
        </p:nvSpPr>
        <p:spPr>
          <a:xfrm>
            <a:off x="411480" y="5394960"/>
            <a:ext cx="3657600" cy="640080"/>
          </a:xfrm>
          <a:prstGeom prst="rect">
            <a:avLst/>
          </a:prstGeom>
          <a:noFill/>
        </p:spPr>
        <p:txBody>
          <a:bodyPr wrap="square">
            <a:spAutoFit/>
          </a:bodyPr>
          <a:lstStyle/>
          <a:p>
            <a:pPr algn="l"/>
            <a:r>
              <a:rPr sz="3000" b="1" i="0">
                <a:solidFill>
                  <a:srgbClr val="FFFFFF"/>
                </a:solidFill>
                <a:latin typeface="Calibri"/>
              </a:rPr>
              <a:t>Thank you.</a:t>
            </a:r>
          </a:p>
        </p:txBody>
      </p:sp>
      <p:sp>
        <p:nvSpPr>
          <p:cNvPr id="9" name="TextBox 8"/>
          <p:cNvSpPr txBox="1"/>
          <p:nvPr/>
        </p:nvSpPr>
        <p:spPr>
          <a:xfrm>
            <a:off x="6492240" y="1097280"/>
            <a:ext cx="5303520" cy="411480"/>
          </a:xfrm>
          <a:prstGeom prst="rect">
            <a:avLst/>
          </a:prstGeom>
          <a:noFill/>
        </p:spPr>
        <p:txBody>
          <a:bodyPr wrap="square">
            <a:spAutoFit/>
          </a:bodyPr>
          <a:lstStyle/>
          <a:p>
            <a:pPr algn="l"/>
            <a:r>
              <a:rPr sz="1300" b="1" i="0">
                <a:solidFill>
                  <a:srgbClr val="00B4D8"/>
                </a:solidFill>
                <a:latin typeface="Calibri"/>
              </a:rPr>
              <a:t>TRY IT</a:t>
            </a:r>
          </a:p>
        </p:txBody>
      </p:sp>
      <p:sp>
        <p:nvSpPr>
          <p:cNvPr id="10" name="TextBox 9"/>
          <p:cNvSpPr txBox="1"/>
          <p:nvPr/>
        </p:nvSpPr>
        <p:spPr>
          <a:xfrm>
            <a:off x="6492240" y="1481328"/>
            <a:ext cx="5303520" cy="868680"/>
          </a:xfrm>
          <a:prstGeom prst="rect">
            <a:avLst/>
          </a:prstGeom>
          <a:noFill/>
        </p:spPr>
        <p:txBody>
          <a:bodyPr wrap="square">
            <a:spAutoFit/>
          </a:bodyPr>
          <a:lstStyle/>
          <a:p>
            <a:pPr algn="l"/>
            <a:r>
              <a:rPr sz="2000" b="1" i="0">
                <a:solidFill>
                  <a:srgbClr val="FFFFFF"/>
                </a:solidFill>
                <a:latin typeface="Calibri"/>
              </a:rPr>
              <a:t>fitness-ai-agents.vercel.app</a:t>
            </a:r>
          </a:p>
        </p:txBody>
      </p:sp>
      <p:sp>
        <p:nvSpPr>
          <p:cNvPr id="11" name="TextBox 10"/>
          <p:cNvSpPr txBox="1"/>
          <p:nvPr/>
        </p:nvSpPr>
        <p:spPr>
          <a:xfrm>
            <a:off x="6492240" y="2788920"/>
            <a:ext cx="5303520" cy="411480"/>
          </a:xfrm>
          <a:prstGeom prst="rect">
            <a:avLst/>
          </a:prstGeom>
          <a:noFill/>
        </p:spPr>
        <p:txBody>
          <a:bodyPr wrap="square">
            <a:spAutoFit/>
          </a:bodyPr>
          <a:lstStyle/>
          <a:p>
            <a:pPr algn="l"/>
            <a:r>
              <a:rPr sz="1300" b="1" i="0">
                <a:solidFill>
                  <a:srgbClr val="00B4D8"/>
                </a:solidFill>
                <a:latin typeface="Calibri"/>
              </a:rPr>
              <a:t>GRADIO DEMO</a:t>
            </a:r>
          </a:p>
        </p:txBody>
      </p:sp>
      <p:sp>
        <p:nvSpPr>
          <p:cNvPr id="12" name="TextBox 11"/>
          <p:cNvSpPr txBox="1"/>
          <p:nvPr/>
        </p:nvSpPr>
        <p:spPr>
          <a:xfrm>
            <a:off x="6492240" y="3172968"/>
            <a:ext cx="5303520" cy="868680"/>
          </a:xfrm>
          <a:prstGeom prst="rect">
            <a:avLst/>
          </a:prstGeom>
          <a:noFill/>
        </p:spPr>
        <p:txBody>
          <a:bodyPr wrap="square">
            <a:spAutoFit/>
          </a:bodyPr>
          <a:lstStyle/>
          <a:p>
            <a:pPr algn="l"/>
            <a:r>
              <a:rPr sz="2000" b="1" i="0">
                <a:solidFill>
                  <a:srgbClr val="FFFFFF"/>
                </a:solidFill>
                <a:latin typeface="Calibri"/>
              </a:rPr>
              <a:t>pymite6941-fitness-ai-
agents-demo.hf.space</a:t>
            </a:r>
          </a:p>
        </p:txBody>
      </p:sp>
      <p:sp>
        <p:nvSpPr>
          <p:cNvPr id="13" name="TextBox 12"/>
          <p:cNvSpPr txBox="1"/>
          <p:nvPr/>
        </p:nvSpPr>
        <p:spPr>
          <a:xfrm>
            <a:off x="6492240" y="4480560"/>
            <a:ext cx="5303520" cy="411480"/>
          </a:xfrm>
          <a:prstGeom prst="rect">
            <a:avLst/>
          </a:prstGeom>
          <a:noFill/>
        </p:spPr>
        <p:txBody>
          <a:bodyPr wrap="square">
            <a:spAutoFit/>
          </a:bodyPr>
          <a:lstStyle/>
          <a:p>
            <a:pPr algn="l"/>
            <a:r>
              <a:rPr sz="1300" b="1" i="0">
                <a:solidFill>
                  <a:srgbClr val="00B4D8"/>
                </a:solidFill>
                <a:latin typeface="Calibri"/>
              </a:rPr>
              <a:t>API</a:t>
            </a:r>
          </a:p>
        </p:txBody>
      </p:sp>
      <p:sp>
        <p:nvSpPr>
          <p:cNvPr id="14" name="TextBox 13"/>
          <p:cNvSpPr txBox="1"/>
          <p:nvPr/>
        </p:nvSpPr>
        <p:spPr>
          <a:xfrm>
            <a:off x="6492240" y="4864608"/>
            <a:ext cx="5303520" cy="868680"/>
          </a:xfrm>
          <a:prstGeom prst="rect">
            <a:avLst/>
          </a:prstGeom>
          <a:noFill/>
        </p:spPr>
        <p:txBody>
          <a:bodyPr wrap="square">
            <a:spAutoFit/>
          </a:bodyPr>
          <a:lstStyle/>
          <a:p>
            <a:pPr algn="l"/>
            <a:r>
              <a:rPr sz="2000" b="1" i="0">
                <a:solidFill>
                  <a:srgbClr val="FFFFFF"/>
                </a:solidFill>
                <a:latin typeface="Calibri"/>
              </a:rPr>
              <a:t>backend-seven-topaz-23
.vercel.app/health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